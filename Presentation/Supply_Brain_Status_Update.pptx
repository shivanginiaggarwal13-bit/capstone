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5989320"/>
            <a:ext cx="10908792" cy="0"/>
          </a:xfrm>
          <a:prstGeom prst="line">
            <a:avLst/>
          </a:prstGeom>
          <a:ln w="28575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SUPPLY BRAIN · PROJECT STATUS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1A17"/>
                </a:solidFill>
                <a:latin typeface="Georgia"/>
              </a:rPr>
              <a:t>Closed-Loop Buffer Optimization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1A17"/>
                </a:solidFill>
                <a:latin typeface="Georgia"/>
              </a:rPr>
              <a:t>for CPG Supply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524A"/>
                </a:solidFill>
                <a:latin typeface="Calibri"/>
              </a:rPr>
              <a:t>Data foundation, segmentation, and optimization approach — progress as of this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24A"/>
                </a:solidFill>
                <a:latin typeface="Consolas"/>
              </a:rPr>
              <a:t>Prepared for Accenture Supply Chain &amp; Engineering — AI and Data · ISB AMPBA &amp; AI, Capstone 2026S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What this update covers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476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1A17"/>
                </a:solidFill>
                <a:latin typeface="Georgia"/>
              </a:rPr>
              <a:t>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8424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Synthetic dataset built, profiled, and grounded against real F&amp;B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9923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1A17"/>
                </a:solidFill>
                <a:latin typeface="Georgia"/>
              </a:rPr>
              <a:t>Segmentation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3580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Testing whether the synthetic data supports clean, meaningful SKU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5079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1A17"/>
                </a:solidFill>
                <a:latin typeface="Georgia"/>
              </a:rPr>
              <a:t>Optimization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8736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Exploring Multi-Armed Bandit optimization for the buffer-strategy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0235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1A17"/>
                </a:solidFill>
                <a:latin typeface="Georgia"/>
              </a:rPr>
              <a:t>Open gaps &amp;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13892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What's still outstanding, and what's next in the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01 —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A fully-synthetic dataset, built to behave like a real client extract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96596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SKUs across 5 categories, 3 demand segments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7568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346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linked tables — referential integrity checks all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6596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7568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346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weeks: 52 wks 2025 actuals + 52 wks 2026 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$128M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simulated historical revenue (2025)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58444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8.08M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units across 260,770 order 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611880" cy="13716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58444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4530A"/>
                </a:solidFill>
                <a:latin typeface="Consolas"/>
              </a:rPr>
              <a:t>84.7%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3434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of revenue from top 20% of SKUs (Pareto)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24A"/>
                </a:solidFill>
                <a:latin typeface="Calibri"/>
              </a:rPr>
              <a:t>Demand-side parameters (price, elasticity, seasonality shape, revenue concentration) are calibrated against a real Kaggle Food &amp; Beverage sales dataset. Supply-side parameters (cost, network, lead time) are researched CPG benchmarks — a modelled assumption, not a client 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01 —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One synthetic US network, four stock-holding echelons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1454" y="2286000"/>
            <a:ext cx="1874519" cy="155448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614" y="242316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6A6D"/>
                </a:solidFill>
                <a:latin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614" y="297180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Production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Plants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614" y="3456432"/>
            <a:ext cx="160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no inventory held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5973" y="2788920"/>
            <a:ext cx="3240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24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0021" y="2286000"/>
            <a:ext cx="1874519" cy="155448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7181" y="242316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6A6D"/>
                </a:solidFill>
                <a:latin typeface="Consola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7181" y="297180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Plant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DCs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7181" y="3456432"/>
            <a:ext cx="160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first stocking echelon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4540" y="2788920"/>
            <a:ext cx="3240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2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8588" y="2286000"/>
            <a:ext cx="1874519" cy="155448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748" y="242316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6A6D"/>
                </a:solidFill>
                <a:latin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5748" y="297180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Regional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DCs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5748" y="3456432"/>
            <a:ext cx="160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serves BULK banners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3107" y="2788920"/>
            <a:ext cx="3240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24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7155" y="2286000"/>
            <a:ext cx="1874519" cy="155448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4315" y="242316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6A6D"/>
                </a:solidFill>
                <a:latin typeface="Consolas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4315" y="297180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Customer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DCs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4315" y="3456432"/>
            <a:ext cx="160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serves DSD banners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1674" y="2788920"/>
            <a:ext cx="3240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5524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5722" y="2286000"/>
            <a:ext cx="1874519" cy="155448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2882" y="242316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6A6D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2882" y="2971800"/>
            <a:ext cx="1600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B2B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1A17"/>
                </a:solidFill>
                <a:latin typeface="Calibri"/>
              </a:rPr>
              <a:t>Banners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2882" y="3456432"/>
            <a:ext cx="1600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A"/>
                </a:solidFill>
                <a:latin typeface="Calibri"/>
              </a:rPr>
              <a:t>retail / distributor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24A"/>
                </a:solidFill>
                <a:latin typeface="Consolas"/>
              </a:rPr>
              <a:t>28 lanes  ·  Truck + Train transport  ·  1 : 5.5 plant-to-DC ratio  ·  BULK / DSD delivery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46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24A"/>
                </a:solidFill>
                <a:latin typeface="Calibri"/>
              </a:rPr>
              <a:t>Modelled on the Coca-Cola bottling system's plant-to-DC ratio. Plants hold no inventory — the Plant DC is the first stocking echelon. Two real delivery patterns coexist: bulk national accounts via Regional DCs, direct-store-delivery banners via local Customer DCs.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02 —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Segmentation is underway — checking the data flows into it cleanly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24A"/>
                </a:solidFill>
                <a:latin typeface="Calibri"/>
              </a:rPr>
              <a:t>Part of the team is building out SKU segmentation in parallel with data validation, and testing whether the synthetic data supports clean, meaningful clusters before locking the logic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257800" cy="33832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1A17"/>
                </a:solidFill>
                <a:latin typeface="Georgia"/>
              </a:rPr>
              <a:t>Clustering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Demand variability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Lead-time variability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Price elasticity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5254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Shelf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365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5524A"/>
                </a:solidFill>
                <a:latin typeface="Calibri"/>
              </a:rPr>
              <a:t>–  Criticality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514600"/>
            <a:ext cx="5257800" cy="3383280"/>
          </a:xfrm>
          <a:prstGeom prst="rect">
            <a:avLst/>
          </a:prstGeom>
          <a:solidFill>
            <a:srgbClr val="ECDAC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1A17"/>
                </a:solidFill>
                <a:latin typeface="Georgia"/>
              </a:rPr>
              <a:t>What's being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•  Does the synthetic segment mix (target 50% Fast-Moving / 30% Seasonal / 20% Intermediate) hold up under independent clustering, or does it need re-tuning?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•  Are category-level patterns (e.g. Beverages vs. Dairy &amp; Bakery) separable enough on these dimensions to justify segment-differentiated policy in later phases?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2064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•  Does elasticity — estimated, not shipped — behave consistently enough across a segment to be usable as a clustering input?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4530A"/>
                </a:solidFill>
                <a:latin typeface="Consolas"/>
              </a:rPr>
              <a:t>Status: in progress — no findings finalized yet. Results will inform whether segmentation logic needs adjustment before Phase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03 — OPTIMIZATION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Exploring Multi-Armed Bandit optimization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24A"/>
                </a:solidFill>
                <a:latin typeface="Calibri"/>
              </a:rPr>
              <a:t>Exploratory, not yet committed scope. Candidate mechanism for the closed-loop, self-recalibrating layer described in the project charter — the system choosing and continuously re-checking a strategy, not just calculating one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881360" cy="96012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F6A6D"/>
                </a:solidFill>
                <a:latin typeface="Calibri"/>
              </a:rPr>
              <a:t>Price vs. inventory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6207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Which mix of price flexibility vs. safety stock minimizes cost per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94760"/>
            <a:ext cx="10881360" cy="96012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F6A6D"/>
                </a:solidFill>
                <a:latin typeface="Calibri"/>
              </a:rPr>
              <a:t>MEIO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95935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Where in the network (Plant DC / Regional DC / Customer DC) to hold buffer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92040"/>
            <a:ext cx="10881360" cy="960120"/>
          </a:xfrm>
          <a:prstGeom prst="rect">
            <a:avLst/>
          </a:prstGeom>
          <a:solidFill>
            <a:srgbClr val="D2E4E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F6A6D"/>
                </a:solidFill>
                <a:latin typeface="Calibri"/>
              </a:rPr>
              <a:t>Service-level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05663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524A"/>
                </a:solidFill>
                <a:latin typeface="Calibri"/>
              </a:rPr>
              <a:t>Which service-level tier (90/95/97/99%) is actually cost-optimal per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24A"/>
                </a:solidFill>
                <a:latin typeface="Calibri"/>
              </a:rPr>
              <a:t>Digital twin (Phase 4) provides the safe, simulated reward signal this approach needs — exploration happens in simulation, never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04 — OPEN GAPS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What's still outstanding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965960"/>
            <a:ext cx="10881360" cy="1234440"/>
          </a:xfrm>
          <a:prstGeom prst="rect">
            <a:avLst/>
          </a:prstGeom>
          <a:solidFill>
            <a:srgbClr val="ECDAC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4864" cy="123444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1A17"/>
                </a:solidFill>
                <a:latin typeface="Calibri"/>
              </a:rPr>
              <a:t>Price elasticity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524A"/>
                </a:solidFill>
                <a:latin typeface="Calibri"/>
              </a:rPr>
              <a:t>Not shipped as a column by design — must be estimated via regression on orders. Recovery vs. internal target is imperfect on the current instance (0/5 categories within 0.5 of target), a realistic estimation risk to flag.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10881360" cy="1234440"/>
          </a:xfrm>
          <a:prstGeom prst="rect">
            <a:avLst/>
          </a:prstGeom>
          <a:solidFill>
            <a:srgbClr val="ECDAC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54864" cy="123444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1A17"/>
                </a:solidFill>
                <a:latin typeface="Calibri"/>
              </a:rPr>
              <a:t>Feedback / recalibration-loop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524A"/>
                </a:solidFill>
                <a:latin typeface="Calibri"/>
              </a:rPr>
              <a:t>Actual-vs-forecast drift tracking isn't covered by any table yet — the one open dependency for the charter's core “closed-loop” promise.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ECDAC2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54864" cy="123444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1A17"/>
                </a:solidFill>
                <a:latin typeface="Calibri"/>
              </a:rPr>
              <a:t>Segmentation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6752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524A"/>
                </a:solidFill>
                <a:latin typeface="Calibri"/>
              </a:rPr>
              <a:t>Still in progress — outcome may require re-tuning the clustering logic before Phase 3 model work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4530A"/>
                </a:solidFill>
                <a:latin typeface="Consola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1A17"/>
                </a:solidFill>
                <a:latin typeface="Georgia"/>
              </a:rPr>
              <a:t>Where this fits in the charter timeline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2103120"/>
            <a:ext cx="10881360" cy="868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24A"/>
                </a:solidFill>
                <a:latin typeface="Consola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2199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A17"/>
                </a:solidFill>
                <a:latin typeface="Calibri"/>
              </a:rPr>
              <a:t>Data Prep &amp;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942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524A"/>
                </a:solidFill>
                <a:latin typeface="Consolas"/>
              </a:rPr>
              <a:t>8–21 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24942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F7D4F"/>
                </a:solidFill>
                <a:latin typeface="Calibri"/>
              </a:rPr>
              <a:t>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881360" cy="868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2783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24A"/>
                </a:solidFill>
                <a:latin typeface="Consolas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22783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A17"/>
                </a:solidFill>
                <a:latin typeface="Calibri"/>
              </a:rPr>
              <a:t>Exploration &amp;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5526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524A"/>
                </a:solidFill>
                <a:latin typeface="Consolas"/>
              </a:rPr>
              <a:t>22 Aug–4 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5526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4530A"/>
                </a:solidFill>
                <a:latin typeface="Calibri"/>
              </a:rPr>
              <a:t>In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10881360" cy="868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3367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24A"/>
                </a:solidFill>
                <a:latin typeface="Consolas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23367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A17"/>
                </a:solidFill>
                <a:latin typeface="Calibri"/>
              </a:rPr>
              <a:t>Model Dev &amp;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6110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524A"/>
                </a:solidFill>
                <a:latin typeface="Consolas"/>
              </a:rPr>
              <a:t>5–25 Sep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26110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24A"/>
                </a:solidFill>
                <a:latin typeface="Calibri"/>
              </a:rPr>
              <a:t>Upcoming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951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24A"/>
                </a:solidFill>
                <a:latin typeface="Consolas"/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23951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A17"/>
                </a:solidFill>
                <a:latin typeface="Calibri"/>
              </a:rPr>
              <a:t>Digital Twin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6694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524A"/>
                </a:solidFill>
                <a:latin typeface="Consolas"/>
              </a:rPr>
              <a:t>26 Sep–9 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26694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24A"/>
                </a:solidFill>
                <a:latin typeface="Calibri"/>
              </a:rPr>
              <a:t>Upcoming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3200400"/>
            <a:ext cx="10908792" cy="0"/>
          </a:xfrm>
          <a:prstGeom prst="line">
            <a:avLst/>
          </a:prstGeom>
          <a:ln w="25400">
            <a:solidFill>
              <a:srgbClr val="1B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A17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24A"/>
                </a:solidFill>
                <a:latin typeface="Consolas"/>
              </a:rPr>
              <a:t>Supply Brain · ISB AMPBA &amp; AI, Capstone 2026S · Accenture Supply Chain &amp; Engineering — AI and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