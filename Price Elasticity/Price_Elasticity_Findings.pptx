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EF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C97A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4884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400" b="1">
                <a:solidFill>
                  <a:srgbClr val="C97A25"/>
                </a:solidFill>
                <a:latin typeface="Calibri"/>
              </a:rPr>
              <a:t>SUPPLY BRAIN  ·  CHARTER PHASE 3 DELIVERABLE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4000" b="1">
                <a:solidFill>
                  <a:srgbClr val="16233A"/>
                </a:solidFill>
                <a:latin typeface="Calibri"/>
              </a:rPr>
              <a:t>Price Elasticity &amp; Buffer Strategy Routing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2000" b="0">
                <a:solidFill>
                  <a:srgbClr val="5B6158"/>
                </a:solidFill>
                <a:latin typeface="Calibri"/>
              </a:rPr>
              <a:t>Findings, method, and the price–inventory exchange rate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7607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5B6158"/>
                </a:solidFill>
                <a:latin typeface="Calibri"/>
              </a:rPr>
              <a:t>Rerun on repo commit 8301f25 (origin/main, pulled 2026-09-01)   |   303,359 2025 order lines · 500 SKUs   |   prepared by N. Sunnel, 2 Sep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EF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C97A25"/>
                </a:solidFill>
                <a:latin typeface="Calibri"/>
              </a:rP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800" b="1">
                <a:solidFill>
                  <a:srgbClr val="16233A"/>
                </a:solidFill>
                <a:latin typeface="Calibri"/>
              </a:rPr>
              <a:t>Four findings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72768"/>
            <a:ext cx="1005840" cy="38100"/>
          </a:xfrm>
          <a:prstGeom prst="rect">
            <a:avLst/>
          </a:prstGeom>
          <a:solidFill>
            <a:srgbClr val="C97A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10972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600">
                <a:solidFill>
                  <a:srgbClr val="1A2420"/>
                </a:solidFill>
                <a:latin typeface="Calibri"/>
              </a:rPr>
              <a:t>•  All five categories are price-elastic (|β₁| from 1.06 to 3.60). Frozen Foods and Snacks &amp; Confectionery are highly elastic; Beverages is the least.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600">
                <a:solidFill>
                  <a:srgbClr val="1A2420"/>
                </a:solidFill>
                <a:latin typeface="Calibri"/>
              </a:rPr>
              <a:t>•  Elasticity must be read at segment level, not category — Dairy &amp; Bakery splits from elastic (Premium ≈ −1.7) to statistically flat (Value ≈ −0.3).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600">
                <a:solidFill>
                  <a:srgbClr val="1A2420"/>
                </a:solidFill>
                <a:latin typeface="Calibri"/>
              </a:rPr>
              <a:t>•  The price–inventory exchange rate favours INVENTORY for four of five categories; Frozen Foods is the only break-even case (1.23×).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600">
                <a:solidFill>
                  <a:srgbClr val="1A2420"/>
                </a:solidFill>
                <a:latin typeface="Calibri"/>
              </a:rPr>
              <a:t>•  Portfolio-wide exchange rate ≈ 0.33× — $1 of discount-driven buffering offsets only ~33¢ of inventory carrying cost, at MEIO’s safety-stock levels.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5349240"/>
            <a:ext cx="10881360" cy="1097280"/>
          </a:xfrm>
          <a:prstGeom prst="rect">
            <a:avLst/>
          </a:prstGeom>
          <a:solidFill>
            <a:srgbClr val="16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Portfolio exchange rate   0.33×</a:t>
            </a:r>
          </a:p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CDD3C4"/>
                </a:solidFill>
                <a:latin typeface="Calibri"/>
              </a:rPr>
              <a:t>inventory carrying cost $374,841/yr   vs   equivalent price-buffer cost $1,138,878/yr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EF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C97A25"/>
                </a:solidFill>
                <a:latin typeface="Calibri"/>
              </a:rPr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800" b="1">
                <a:solidFill>
                  <a:srgbClr val="16233A"/>
                </a:solidFill>
                <a:latin typeface="Calibri"/>
              </a:rPr>
              <a:t>What the charter asked for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72768"/>
            <a:ext cx="1005840" cy="38100"/>
          </a:xfrm>
          <a:prstGeom prst="rect">
            <a:avLst/>
          </a:prstGeom>
          <a:solidFill>
            <a:srgbClr val="C97A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828800"/>
            <a:ext cx="10881360" cy="1920240"/>
          </a:xfrm>
          <a:prstGeom prst="rect">
            <a:avLst/>
          </a:prstGeom>
          <a:solidFill>
            <a:srgbClr val="16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/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“For each segment, estimate price elasticity and compare the cost of buffering with inventory vs. buffering with price… The system quantifies the exchange rate: $1 of price flexibility = $Y of safety stock — a comparison no existing supply chain system makes systematically at SKU level.”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1480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700">
                <a:solidFill>
                  <a:srgbClr val="1A2420"/>
                </a:solidFill>
                <a:latin typeface="Calibri"/>
              </a:rPr>
              <a:t>•  How does demand respond to price — by category, and by finer segment?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700">
                <a:solidFill>
                  <a:srgbClr val="1A2420"/>
                </a:solidFill>
                <a:latin typeface="Calibri"/>
              </a:rPr>
              <a:t>•  Is that response in line with published FMCG norms (a check that the model is sound)?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700">
                <a:solidFill>
                  <a:srgbClr val="1A2420"/>
                </a:solidFill>
                <a:latin typeface="Calibri"/>
              </a:rPr>
              <a:t>•  Per segment: what does $1 of price flexibility buy you in avoided safety-stock cost?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EF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C97A25"/>
                </a:solidFill>
                <a:latin typeface="Calibri"/>
              </a:rPr>
              <a:t>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800" b="1">
                <a:solidFill>
                  <a:srgbClr val="16233A"/>
                </a:solidFill>
                <a:latin typeface="Calibri"/>
              </a:rPr>
              <a:t>The elasticity model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72768"/>
            <a:ext cx="1005840" cy="38100"/>
          </a:xfrm>
          <a:prstGeom prst="rect">
            <a:avLst/>
          </a:prstGeom>
          <a:solidFill>
            <a:srgbClr val="C97A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600">
                <a:solidFill>
                  <a:srgbClr val="1A2420"/>
                </a:solidFill>
                <a:latin typeface="Calibri"/>
              </a:rPr>
              <a:t>•  Constant-elasticity (log–log) demand curve with two-way fixed effects:</a:t>
            </a:r>
          </a:p>
          <a:p>
            <a:pPr lvl="1">
              <a:lnSpc>
                <a:spcPct val="115000"/>
              </a:lnSpc>
              <a:spcAft>
                <a:spcPts val="1000"/>
              </a:spcAft>
            </a:pPr>
            <a:r>
              <a:rPr sz="1300">
                <a:solidFill>
                  <a:srgbClr val="5B6158"/>
                </a:solidFill>
                <a:latin typeface="Calibri"/>
              </a:rPr>
              <a:t>–  ln(qty) = β₀ + β₁·ln(base_price) + β₂·ln(1 − discount) + α(sku) + γ(period) + ε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600">
                <a:solidFill>
                  <a:srgbClr val="1A2420"/>
                </a:solidFill>
                <a:latin typeface="Calibri"/>
              </a:rPr>
              <a:t>•  β₁ = elasticity to shelf/list price   ·   β₂ = response to promo depth (negative ⇒ discounts lift volume).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600">
                <a:solidFill>
                  <a:srgbClr val="1A2420"/>
                </a:solidFill>
                <a:latin typeface="Calibri"/>
              </a:rPr>
              <a:t>•  SKU and ISO-week fixed effects are demeaned out first, so the coefficient is within-SKU, within-week price response — not the fact that cheap SKUs sell in bigger unit counts.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600">
                <a:solidFill>
                  <a:srgbClr val="1A2420"/>
                </a:solidFill>
                <a:latin typeface="Calibri"/>
              </a:rPr>
              <a:t>•  Estimator reproduces segmentation_v2.py §2 exactly, then adds HC1 robust standard errors for confidence intervals.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600">
                <a:solidFill>
                  <a:srgbClr val="1A2420"/>
                </a:solidFill>
                <a:latin typeface="Calibri"/>
              </a:rPr>
              <a:t>•  Exchange rate: price the MEIO-recommended safety stock two ways —</a:t>
            </a:r>
          </a:p>
          <a:p>
            <a:pPr lvl="1">
              <a:lnSpc>
                <a:spcPct val="115000"/>
              </a:lnSpc>
              <a:spcAft>
                <a:spcPts val="1000"/>
              </a:spcAft>
            </a:pPr>
            <a:r>
              <a:rPr sz="1300">
                <a:solidFill>
                  <a:srgbClr val="5B6158"/>
                </a:solidFill>
                <a:latin typeface="Calibri"/>
              </a:rPr>
              <a:t>–  inventory cost = SS$ × (holding% + capital%)   |   price cost = |ΔQ% ÷ elasticity| × avg_price × annual_volume</a:t>
            </a:r>
          </a:p>
          <a:p>
            <a:pPr lvl="1">
              <a:lnSpc>
                <a:spcPct val="115000"/>
              </a:lnSpc>
              <a:spcAft>
                <a:spcPts val="1000"/>
              </a:spcAft>
            </a:pPr>
            <a:r>
              <a:rPr sz="1300">
                <a:solidFill>
                  <a:srgbClr val="5B6158"/>
                </a:solidFill>
                <a:latin typeface="Calibri"/>
              </a:rPr>
              <a:t>–  exchange rate = inventory cost ÷ price cost      (&lt;1 ⇒ inventory cheaper)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EF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C97A25"/>
                </a:solidFill>
                <a:latin typeface="Calibri"/>
              </a:rPr>
              <a:t>INPUTS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800" b="1">
                <a:solidFill>
                  <a:srgbClr val="16233A"/>
                </a:solidFill>
                <a:latin typeface="Calibri"/>
              </a:rPr>
              <a:t>Data &amp; provenance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72768"/>
            <a:ext cx="1005840" cy="38100"/>
          </a:xfrm>
          <a:prstGeom prst="rect">
            <a:avLst/>
          </a:prstGeom>
          <a:solidFill>
            <a:srgbClr val="C97A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920240"/>
          <a:ext cx="10881359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83280"/>
                <a:gridCol w="7498079"/>
              </a:tblGrid>
              <a:tr h="40640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Item</a:t>
                      </a:r>
                    </a:p>
                  </a:txBody>
                  <a:tcPr marL="73152" marR="73152" marT="27432" marB="27432" anchor="ctr">
                    <a:solidFill>
                      <a:srgbClr val="1623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 marL="73152" marR="73152" marT="27432" marB="27432" anchor="ctr">
                    <a:solidFill>
                      <a:srgbClr val="16233A"/>
                    </a:solidFill>
                  </a:tcPr>
                </a:tc>
              </a:tr>
              <a:tr h="406400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1A2420"/>
                          </a:solidFill>
                          <a:latin typeface="Calibri"/>
                        </a:rPr>
                        <a:t>Repo commit</a:t>
                      </a:r>
                    </a:p>
                  </a:txBody>
                  <a:tcPr marL="73152" marR="73152" marT="27432" marB="27432" anchor="ctr">
                    <a:solidFill>
                      <a:srgbClr val="FCFC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>
                          <a:solidFill>
                            <a:srgbClr val="1A2420"/>
                          </a:solidFill>
                          <a:latin typeface="Calibri"/>
                        </a:rPr>
                        <a:t>8301f25  (origin/main, pulled 2026-09-01)</a:t>
                      </a:r>
                    </a:p>
                  </a:txBody>
                  <a:tcPr marL="73152" marR="73152" marT="27432" marB="27432" anchor="ctr">
                    <a:solidFill>
                      <a:srgbClr val="FCFCF9"/>
                    </a:solidFill>
                  </a:tcPr>
                </a:tc>
              </a:tr>
              <a:tr h="406400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1A2420"/>
                          </a:solidFill>
                          <a:latin typeface="Calibri"/>
                        </a:rPr>
                        <a:t>Data window</a:t>
                      </a:r>
                    </a:p>
                  </a:txBody>
                  <a:tcPr marL="73152" marR="73152" marT="27432" marB="27432" anchor="ctr">
                    <a:solidFill>
                      <a:srgbClr val="F2F3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>
                          <a:solidFill>
                            <a:srgbClr val="1A2420"/>
                          </a:solidFill>
                          <a:latin typeface="Calibri"/>
                        </a:rPr>
                        <a:t>2025-01-06  →  2025-12-31  (2025 actuals only)</a:t>
                      </a:r>
                    </a:p>
                  </a:txBody>
                  <a:tcPr marL="73152" marR="73152" marT="27432" marB="27432" anchor="ctr">
                    <a:solidFill>
                      <a:srgbClr val="F2F3EC"/>
                    </a:solidFill>
                  </a:tcPr>
                </a:tc>
              </a:tr>
              <a:tr h="406400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1A2420"/>
                          </a:solidFill>
                          <a:latin typeface="Calibri"/>
                        </a:rPr>
                        <a:t>Order lines</a:t>
                      </a:r>
                    </a:p>
                  </a:txBody>
                  <a:tcPr marL="73152" marR="73152" marT="27432" marB="27432" anchor="ctr">
                    <a:solidFill>
                      <a:srgbClr val="FCFC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>
                          <a:solidFill>
                            <a:srgbClr val="1A2420"/>
                          </a:solidFill>
                          <a:latin typeface="Calibri"/>
                        </a:rPr>
                        <a:t>303,359</a:t>
                      </a:r>
                    </a:p>
                  </a:txBody>
                  <a:tcPr marL="73152" marR="73152" marT="27432" marB="27432" anchor="ctr">
                    <a:solidFill>
                      <a:srgbClr val="FCFCF9"/>
                    </a:solidFill>
                  </a:tcPr>
                </a:tc>
              </a:tr>
              <a:tr h="406400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1A2420"/>
                          </a:solidFill>
                          <a:latin typeface="Calibri"/>
                        </a:rPr>
                        <a:t>SKUs / categories / price tiers</a:t>
                      </a:r>
                    </a:p>
                  </a:txBody>
                  <a:tcPr marL="73152" marR="73152" marT="27432" marB="27432" anchor="ctr">
                    <a:solidFill>
                      <a:srgbClr val="F2F3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>
                          <a:solidFill>
                            <a:srgbClr val="1A2420"/>
                          </a:solidFill>
                          <a:latin typeface="Calibri"/>
                        </a:rPr>
                        <a:t>500 / 5 / 2</a:t>
                      </a:r>
                    </a:p>
                  </a:txBody>
                  <a:tcPr marL="73152" marR="73152" marT="27432" marB="27432" anchor="ctr">
                    <a:solidFill>
                      <a:srgbClr val="F2F3EC"/>
                    </a:solidFill>
                  </a:tcPr>
                </a:tc>
              </a:tr>
              <a:tr h="406400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1A2420"/>
                          </a:solidFill>
                          <a:latin typeface="Calibri"/>
                        </a:rPr>
                        <a:t>Lines carrying a discount</a:t>
                      </a:r>
                    </a:p>
                  </a:txBody>
                  <a:tcPr marL="73152" marR="73152" marT="27432" marB="27432" anchor="ctr">
                    <a:solidFill>
                      <a:srgbClr val="FCFC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>
                          <a:solidFill>
                            <a:srgbClr val="1A2420"/>
                          </a:solidFill>
                          <a:latin typeface="Calibri"/>
                        </a:rPr>
                        <a:t>5.7%   (max depth 35%)</a:t>
                      </a:r>
                    </a:p>
                  </a:txBody>
                  <a:tcPr marL="73152" marR="73152" marT="27432" marB="27432" anchor="ctr">
                    <a:solidFill>
                      <a:srgbClr val="FCFCF9"/>
                    </a:solidFill>
                  </a:tcPr>
                </a:tc>
              </a:tr>
              <a:tr h="406400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1A2420"/>
                          </a:solidFill>
                          <a:latin typeface="Calibri"/>
                        </a:rPr>
                        <a:t>Elasticity inputs</a:t>
                      </a:r>
                    </a:p>
                  </a:txBody>
                  <a:tcPr marL="73152" marR="73152" marT="27432" marB="27432" anchor="ctr">
                    <a:solidFill>
                      <a:srgbClr val="F2F3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>
                          <a:solidFill>
                            <a:srgbClr val="1A2420"/>
                          </a:solidFill>
                          <a:latin typeface="Calibri"/>
                        </a:rPr>
                        <a:t>orders.csv, sku_master.csv</a:t>
                      </a:r>
                    </a:p>
                  </a:txBody>
                  <a:tcPr marL="73152" marR="73152" marT="27432" marB="27432" anchor="ctr">
                    <a:solidFill>
                      <a:srgbClr val="F2F3EC"/>
                    </a:solidFill>
                  </a:tcPr>
                </a:tc>
              </a:tr>
              <a:tr h="406400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1A2420"/>
                          </a:solidFill>
                          <a:latin typeface="Calibri"/>
                        </a:rPr>
                        <a:t>Exchange-rate inputs</a:t>
                      </a:r>
                    </a:p>
                  </a:txBody>
                  <a:tcPr marL="73152" marR="73152" marT="27432" marB="27432" anchor="ctr">
                    <a:solidFill>
                      <a:srgbClr val="FCFC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>
                          <a:solidFill>
                            <a:srgbClr val="1A2420"/>
                          </a:solidFill>
                          <a:latin typeface="Calibri"/>
                        </a:rPr>
                        <a:t>cost_parameters.csv, models/MEIO/output/meio_summary_by_category.csv</a:t>
                      </a:r>
                    </a:p>
                  </a:txBody>
                  <a:tcPr marL="73152" marR="73152" marT="27432" marB="27432" anchor="ctr">
                    <a:solidFill>
                      <a:srgbClr val="FCFCF9"/>
                    </a:solidFill>
                  </a:tcPr>
                </a:tc>
              </a:tr>
              <a:tr h="406400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1A2420"/>
                          </a:solidFill>
                          <a:latin typeface="Calibri"/>
                        </a:rPr>
                        <a:t>Notebook</a:t>
                      </a:r>
                    </a:p>
                  </a:txBody>
                  <a:tcPr marL="73152" marR="73152" marT="27432" marB="27432" anchor="ctr">
                    <a:solidFill>
                      <a:srgbClr val="F2F3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>
                          <a:solidFill>
                            <a:srgbClr val="1A2420"/>
                          </a:solidFill>
                          <a:latin typeface="Calibri"/>
                        </a:rPr>
                        <a:t>Price Elasticity/price_elasticity_analysis.ipynb</a:t>
                      </a:r>
                    </a:p>
                  </a:txBody>
                  <a:tcPr marL="73152" marR="73152" marT="27432" marB="27432" anchor="ctr">
                    <a:solidFill>
                      <a:srgbClr val="F2F3EC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58521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5B6158"/>
                </a:solidFill>
                <a:latin typeface="Calibri"/>
              </a:rPr>
              <a:t>Only ~5.7% of lines carry price variation, so β₁ leans on modest within-SKU list-price drift — a real precision constraint (see Caveats).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EF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C97A25"/>
                </a:solidFill>
                <a:latin typeface="Calibri"/>
              </a:rPr>
              <a:t>FINDING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800" b="1">
                <a:solidFill>
                  <a:srgbClr val="16233A"/>
                </a:solidFill>
                <a:latin typeface="Calibri"/>
              </a:rPr>
              <a:t>Category-level price elasticity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72768"/>
            <a:ext cx="1005840" cy="38100"/>
          </a:xfrm>
          <a:prstGeom prst="rect">
            <a:avLst/>
          </a:prstGeom>
          <a:solidFill>
            <a:srgbClr val="C97A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ig_category_elastic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83080"/>
            <a:ext cx="7680960" cy="368525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321040" y="1920240"/>
            <a:ext cx="3566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00">
                <a:solidFill>
                  <a:srgbClr val="1A2420"/>
                </a:solidFill>
                <a:latin typeface="Calibri"/>
              </a:rPr>
              <a:t>•  Frozen Foods &amp; Snacks ≈ −3.5: shoppers switch sharply on price.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00">
                <a:solidFill>
                  <a:srgbClr val="1A2420"/>
                </a:solidFill>
                <a:latin typeface="Calibri"/>
              </a:rPr>
              <a:t>•  Beverages least elastic (−1.06) — sits in the premium band; portfolio skews to differentiated SKUs (spirits, specialty tea), not commodity drinks.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00">
                <a:solidFill>
                  <a:srgbClr val="1A2420"/>
                </a:solidFill>
                <a:latin typeface="Calibri"/>
              </a:rPr>
              <a:t>•  Grocery is textbook mainstream FMCG (−1.83).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00">
                <a:solidFill>
                  <a:srgbClr val="1A2420"/>
                </a:solidFill>
                <a:latin typeface="Calibri"/>
              </a:rPr>
              <a:t>•  All coefficients negative, p ≈ 0, tight CIs.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EF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C97A25"/>
                </a:solidFill>
                <a:latin typeface="Calibri"/>
              </a:rPr>
              <a:t>FINDING 1 · DETAIL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800" b="1">
                <a:solidFill>
                  <a:srgbClr val="16233A"/>
                </a:solidFill>
                <a:latin typeface="Calibri"/>
              </a:rPr>
              <a:t>Regression output by category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72768"/>
            <a:ext cx="1005840" cy="38100"/>
          </a:xfrm>
          <a:prstGeom prst="rect">
            <a:avLst/>
          </a:prstGeom>
          <a:solidFill>
            <a:srgbClr val="C97A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11480" y="2011680"/>
          <a:ext cx="1138428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1463040"/>
                <a:gridCol w="1051560"/>
                <a:gridCol w="2286000"/>
                <a:gridCol w="1325880"/>
                <a:gridCol w="1234440"/>
                <a:gridCol w="1463040"/>
              </a:tblGrid>
              <a:tr h="48768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Category</a:t>
                      </a:r>
                    </a:p>
                  </a:txBody>
                  <a:tcPr marL="73152" marR="73152" marT="27432" marB="27432" anchor="ctr">
                    <a:solidFill>
                      <a:srgbClr val="1623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β₁ list price</a:t>
                      </a:r>
                    </a:p>
                  </a:txBody>
                  <a:tcPr marL="73152" marR="73152" marT="27432" marB="27432" anchor="ctr">
                    <a:solidFill>
                      <a:srgbClr val="1623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SE</a:t>
                      </a:r>
                    </a:p>
                  </a:txBody>
                  <a:tcPr marL="73152" marR="73152" marT="27432" marB="27432" anchor="ctr">
                    <a:solidFill>
                      <a:srgbClr val="1623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95% CI</a:t>
                      </a:r>
                    </a:p>
                  </a:txBody>
                  <a:tcPr marL="73152" marR="73152" marT="27432" marB="27432" anchor="ctr">
                    <a:solidFill>
                      <a:srgbClr val="1623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β₂ promo</a:t>
                      </a:r>
                    </a:p>
                  </a:txBody>
                  <a:tcPr marL="73152" marR="73152" marT="27432" marB="27432" anchor="ctr">
                    <a:solidFill>
                      <a:srgbClr val="1623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R²</a:t>
                      </a:r>
                    </a:p>
                  </a:txBody>
                  <a:tcPr marL="73152" marR="73152" marT="27432" marB="27432" anchor="ctr">
                    <a:solidFill>
                      <a:srgbClr val="1623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n</a:t>
                      </a:r>
                    </a:p>
                  </a:txBody>
                  <a:tcPr marL="73152" marR="73152" marT="27432" marB="27432" anchor="ctr">
                    <a:solidFill>
                      <a:srgbClr val="16233A"/>
                    </a:solidFill>
                  </a:tcPr>
                </a:tc>
              </a:tr>
              <a:tr h="487680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A2420"/>
                          </a:solidFill>
                          <a:latin typeface="Calibri"/>
                        </a:rPr>
                        <a:t>Snacks &amp; Confectionery</a:t>
                      </a:r>
                    </a:p>
                  </a:txBody>
                  <a:tcPr marL="73152" marR="73152" marT="27432" marB="27432" anchor="ctr">
                    <a:solidFill>
                      <a:srgbClr val="FCFC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1A2420"/>
                          </a:solidFill>
                          <a:latin typeface="Calibri"/>
                        </a:rPr>
                        <a:t>-3.60</a:t>
                      </a:r>
                    </a:p>
                  </a:txBody>
                  <a:tcPr marL="73152" marR="73152" marT="27432" marB="27432" anchor="ctr">
                    <a:solidFill>
                      <a:srgbClr val="FCFC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1A2420"/>
                          </a:solidFill>
                          <a:latin typeface="Calibri"/>
                        </a:rPr>
                        <a:t>0.130</a:t>
                      </a:r>
                    </a:p>
                  </a:txBody>
                  <a:tcPr marL="73152" marR="73152" marT="27432" marB="27432" anchor="ctr">
                    <a:solidFill>
                      <a:srgbClr val="FCFC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1A2420"/>
                          </a:solidFill>
                          <a:latin typeface="Calibri"/>
                        </a:rPr>
                        <a:t>[-3.85, -3.34]</a:t>
                      </a:r>
                    </a:p>
                  </a:txBody>
                  <a:tcPr marL="73152" marR="73152" marT="27432" marB="27432" anchor="ctr">
                    <a:solidFill>
                      <a:srgbClr val="FCFC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1A2420"/>
                          </a:solidFill>
                          <a:latin typeface="Calibri"/>
                        </a:rPr>
                        <a:t>-3.57</a:t>
                      </a:r>
                    </a:p>
                  </a:txBody>
                  <a:tcPr marL="73152" marR="73152" marT="27432" marB="27432" anchor="ctr">
                    <a:solidFill>
                      <a:srgbClr val="FCFC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1A2420"/>
                          </a:solidFill>
                          <a:latin typeface="Calibri"/>
                        </a:rPr>
                        <a:t>0.060</a:t>
                      </a:r>
                    </a:p>
                  </a:txBody>
                  <a:tcPr marL="73152" marR="73152" marT="27432" marB="27432" anchor="ctr">
                    <a:solidFill>
                      <a:srgbClr val="FCFC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1A2420"/>
                          </a:solidFill>
                          <a:latin typeface="Calibri"/>
                        </a:rPr>
                        <a:t>62,286</a:t>
                      </a:r>
                    </a:p>
                  </a:txBody>
                  <a:tcPr marL="73152" marR="73152" marT="27432" marB="27432" anchor="ctr">
                    <a:solidFill>
                      <a:srgbClr val="FCFCF9"/>
                    </a:solidFill>
                  </a:tcPr>
                </a:tc>
              </a:tr>
              <a:tr h="487680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A2420"/>
                          </a:solidFill>
                          <a:latin typeface="Calibri"/>
                        </a:rPr>
                        <a:t>Frozen Foods</a:t>
                      </a:r>
                    </a:p>
                  </a:txBody>
                  <a:tcPr marL="73152" marR="73152" marT="27432" marB="27432" anchor="ctr">
                    <a:solidFill>
                      <a:srgbClr val="F2F3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1A2420"/>
                          </a:solidFill>
                          <a:latin typeface="Calibri"/>
                        </a:rPr>
                        <a:t>-3.50</a:t>
                      </a:r>
                    </a:p>
                  </a:txBody>
                  <a:tcPr marL="73152" marR="73152" marT="27432" marB="27432" anchor="ctr">
                    <a:solidFill>
                      <a:srgbClr val="F2F3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1A2420"/>
                          </a:solidFill>
                          <a:latin typeface="Calibri"/>
                        </a:rPr>
                        <a:t>0.132</a:t>
                      </a:r>
                    </a:p>
                  </a:txBody>
                  <a:tcPr marL="73152" marR="73152" marT="27432" marB="27432" anchor="ctr">
                    <a:solidFill>
                      <a:srgbClr val="F2F3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1A2420"/>
                          </a:solidFill>
                          <a:latin typeface="Calibri"/>
                        </a:rPr>
                        <a:t>[-3.75, -3.24]</a:t>
                      </a:r>
                    </a:p>
                  </a:txBody>
                  <a:tcPr marL="73152" marR="73152" marT="27432" marB="27432" anchor="ctr">
                    <a:solidFill>
                      <a:srgbClr val="F2F3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1A2420"/>
                          </a:solidFill>
                          <a:latin typeface="Calibri"/>
                        </a:rPr>
                        <a:t>-3.50</a:t>
                      </a:r>
                    </a:p>
                  </a:txBody>
                  <a:tcPr marL="73152" marR="73152" marT="27432" marB="27432" anchor="ctr">
                    <a:solidFill>
                      <a:srgbClr val="F2F3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1A2420"/>
                          </a:solidFill>
                          <a:latin typeface="Calibri"/>
                        </a:rPr>
                        <a:t>0.062</a:t>
                      </a:r>
                    </a:p>
                  </a:txBody>
                  <a:tcPr marL="73152" marR="73152" marT="27432" marB="27432" anchor="ctr">
                    <a:solidFill>
                      <a:srgbClr val="F2F3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1A2420"/>
                          </a:solidFill>
                          <a:latin typeface="Calibri"/>
                        </a:rPr>
                        <a:t>55,970</a:t>
                      </a:r>
                    </a:p>
                  </a:txBody>
                  <a:tcPr marL="73152" marR="73152" marT="27432" marB="27432" anchor="ctr">
                    <a:solidFill>
                      <a:srgbClr val="F2F3EC"/>
                    </a:solidFill>
                  </a:tcPr>
                </a:tc>
              </a:tr>
              <a:tr h="487680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A2420"/>
                          </a:solidFill>
                          <a:latin typeface="Calibri"/>
                        </a:rPr>
                        <a:t>Grocery</a:t>
                      </a:r>
                    </a:p>
                  </a:txBody>
                  <a:tcPr marL="73152" marR="73152" marT="27432" marB="27432" anchor="ctr">
                    <a:solidFill>
                      <a:srgbClr val="FCFC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1A2420"/>
                          </a:solidFill>
                          <a:latin typeface="Calibri"/>
                        </a:rPr>
                        <a:t>-1.83</a:t>
                      </a:r>
                    </a:p>
                  </a:txBody>
                  <a:tcPr marL="73152" marR="73152" marT="27432" marB="27432" anchor="ctr">
                    <a:solidFill>
                      <a:srgbClr val="FCFC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1A2420"/>
                          </a:solidFill>
                          <a:latin typeface="Calibri"/>
                        </a:rPr>
                        <a:t>0.130</a:t>
                      </a:r>
                    </a:p>
                  </a:txBody>
                  <a:tcPr marL="73152" marR="73152" marT="27432" marB="27432" anchor="ctr">
                    <a:solidFill>
                      <a:srgbClr val="FCFC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1A2420"/>
                          </a:solidFill>
                          <a:latin typeface="Calibri"/>
                        </a:rPr>
                        <a:t>[-2.09, -1.58]</a:t>
                      </a:r>
                    </a:p>
                  </a:txBody>
                  <a:tcPr marL="73152" marR="73152" marT="27432" marB="27432" anchor="ctr">
                    <a:solidFill>
                      <a:srgbClr val="FCFC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1A2420"/>
                          </a:solidFill>
                          <a:latin typeface="Calibri"/>
                        </a:rPr>
                        <a:t>-2.23</a:t>
                      </a:r>
                    </a:p>
                  </a:txBody>
                  <a:tcPr marL="73152" marR="73152" marT="27432" marB="27432" anchor="ctr">
                    <a:solidFill>
                      <a:srgbClr val="FCFC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1A2420"/>
                          </a:solidFill>
                          <a:latin typeface="Calibri"/>
                        </a:rPr>
                        <a:t>0.020</a:t>
                      </a:r>
                    </a:p>
                  </a:txBody>
                  <a:tcPr marL="73152" marR="73152" marT="27432" marB="27432" anchor="ctr">
                    <a:solidFill>
                      <a:srgbClr val="FCFC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1A2420"/>
                          </a:solidFill>
                          <a:latin typeface="Calibri"/>
                        </a:rPr>
                        <a:t>62,963</a:t>
                      </a:r>
                    </a:p>
                  </a:txBody>
                  <a:tcPr marL="73152" marR="73152" marT="27432" marB="27432" anchor="ctr">
                    <a:solidFill>
                      <a:srgbClr val="FCFCF9"/>
                    </a:solidFill>
                  </a:tcPr>
                </a:tc>
              </a:tr>
              <a:tr h="487680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A2420"/>
                          </a:solidFill>
                          <a:latin typeface="Calibri"/>
                        </a:rPr>
                        <a:t>Dairy &amp; Bakery</a:t>
                      </a:r>
                    </a:p>
                  </a:txBody>
                  <a:tcPr marL="73152" marR="73152" marT="27432" marB="27432" anchor="ctr">
                    <a:solidFill>
                      <a:srgbClr val="F2F3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1A2420"/>
                          </a:solidFill>
                          <a:latin typeface="Calibri"/>
                        </a:rPr>
                        <a:t>-1.25</a:t>
                      </a:r>
                    </a:p>
                  </a:txBody>
                  <a:tcPr marL="73152" marR="73152" marT="27432" marB="27432" anchor="ctr">
                    <a:solidFill>
                      <a:srgbClr val="F2F3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1A2420"/>
                          </a:solidFill>
                          <a:latin typeface="Calibri"/>
                        </a:rPr>
                        <a:t>0.138</a:t>
                      </a:r>
                    </a:p>
                  </a:txBody>
                  <a:tcPr marL="73152" marR="73152" marT="27432" marB="27432" anchor="ctr">
                    <a:solidFill>
                      <a:srgbClr val="F2F3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1A2420"/>
                          </a:solidFill>
                          <a:latin typeface="Calibri"/>
                        </a:rPr>
                        <a:t>[-1.51, -0.98]</a:t>
                      </a:r>
                    </a:p>
                  </a:txBody>
                  <a:tcPr marL="73152" marR="73152" marT="27432" marB="27432" anchor="ctr">
                    <a:solidFill>
                      <a:srgbClr val="F2F3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1A2420"/>
                          </a:solidFill>
                          <a:latin typeface="Calibri"/>
                        </a:rPr>
                        <a:t>-2.43</a:t>
                      </a:r>
                    </a:p>
                  </a:txBody>
                  <a:tcPr marL="73152" marR="73152" marT="27432" marB="27432" anchor="ctr">
                    <a:solidFill>
                      <a:srgbClr val="F2F3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1A2420"/>
                          </a:solidFill>
                          <a:latin typeface="Calibri"/>
                        </a:rPr>
                        <a:t>0.026</a:t>
                      </a:r>
                    </a:p>
                  </a:txBody>
                  <a:tcPr marL="73152" marR="73152" marT="27432" marB="27432" anchor="ctr">
                    <a:solidFill>
                      <a:srgbClr val="F2F3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1A2420"/>
                          </a:solidFill>
                          <a:latin typeface="Calibri"/>
                        </a:rPr>
                        <a:t>60,820</a:t>
                      </a:r>
                    </a:p>
                  </a:txBody>
                  <a:tcPr marL="73152" marR="73152" marT="27432" marB="27432" anchor="ctr">
                    <a:solidFill>
                      <a:srgbClr val="F2F3EC"/>
                    </a:solidFill>
                  </a:tcPr>
                </a:tc>
              </a:tr>
              <a:tr h="487680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A2420"/>
                          </a:solidFill>
                          <a:latin typeface="Calibri"/>
                        </a:rPr>
                        <a:t>Beverages</a:t>
                      </a:r>
                    </a:p>
                  </a:txBody>
                  <a:tcPr marL="73152" marR="73152" marT="27432" marB="27432" anchor="ctr">
                    <a:solidFill>
                      <a:srgbClr val="FCFC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1A2420"/>
                          </a:solidFill>
                          <a:latin typeface="Calibri"/>
                        </a:rPr>
                        <a:t>-1.06</a:t>
                      </a:r>
                    </a:p>
                  </a:txBody>
                  <a:tcPr marL="73152" marR="73152" marT="27432" marB="27432" anchor="ctr">
                    <a:solidFill>
                      <a:srgbClr val="FCFC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1A2420"/>
                          </a:solidFill>
                          <a:latin typeface="Calibri"/>
                        </a:rPr>
                        <a:t>0.135</a:t>
                      </a:r>
                    </a:p>
                  </a:txBody>
                  <a:tcPr marL="73152" marR="73152" marT="27432" marB="27432" anchor="ctr">
                    <a:solidFill>
                      <a:srgbClr val="FCFC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1A2420"/>
                          </a:solidFill>
                          <a:latin typeface="Calibri"/>
                        </a:rPr>
                        <a:t>[-1.32, -0.79]</a:t>
                      </a:r>
                    </a:p>
                  </a:txBody>
                  <a:tcPr marL="73152" marR="73152" marT="27432" marB="27432" anchor="ctr">
                    <a:solidFill>
                      <a:srgbClr val="FCFC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1A2420"/>
                          </a:solidFill>
                          <a:latin typeface="Calibri"/>
                        </a:rPr>
                        <a:t>-1.35</a:t>
                      </a:r>
                    </a:p>
                  </a:txBody>
                  <a:tcPr marL="73152" marR="73152" marT="27432" marB="27432" anchor="ctr">
                    <a:solidFill>
                      <a:srgbClr val="FCFC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1A2420"/>
                          </a:solidFill>
                          <a:latin typeface="Calibri"/>
                        </a:rPr>
                        <a:t>0.008</a:t>
                      </a:r>
                    </a:p>
                  </a:txBody>
                  <a:tcPr marL="73152" marR="73152" marT="27432" marB="27432" anchor="ctr">
                    <a:solidFill>
                      <a:srgbClr val="FCFC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1A2420"/>
                          </a:solidFill>
                          <a:latin typeface="Calibri"/>
                        </a:rPr>
                        <a:t>61,320</a:t>
                      </a:r>
                    </a:p>
                  </a:txBody>
                  <a:tcPr marL="73152" marR="73152" marT="27432" marB="27432" anchor="ctr">
                    <a:solidFill>
                      <a:srgbClr val="FCFCF9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5212080"/>
            <a:ext cx="108813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5B6158"/>
                </a:solidFill>
                <a:latin typeface="Calibri"/>
              </a:rPr>
              <a:t>R² is low across the board (0.008–0.062): price explains only a sliver of order-to-order quantity variation on this synthetic data.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5B6158"/>
                </a:solidFill>
                <a:latin typeface="Calibri"/>
              </a:rPr>
              <a:t>The reliable outputs are the sign, the ordering, and the rough magnitude — not the third decimal.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EF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C97A25"/>
                </a:solidFill>
                <a:latin typeface="Calibri"/>
              </a:rPr>
              <a:t>FINDING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800" b="1">
                <a:solidFill>
                  <a:srgbClr val="16233A"/>
                </a:solidFill>
                <a:latin typeface="Calibri"/>
              </a:rPr>
              <a:t>Segment split: category × price tier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72768"/>
            <a:ext cx="1005840" cy="38100"/>
          </a:xfrm>
          <a:prstGeom prst="rect">
            <a:avLst/>
          </a:prstGeom>
          <a:solidFill>
            <a:srgbClr val="C97A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ig_tier_elastic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83080"/>
            <a:ext cx="7680960" cy="350652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321040" y="1920240"/>
            <a:ext cx="3566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300">
                <a:solidFill>
                  <a:srgbClr val="1A2420"/>
                </a:solidFill>
                <a:latin typeface="Calibri"/>
              </a:rPr>
              <a:t>•  Dairy &amp; Bakery is the case segmentation exists for:</a:t>
            </a:r>
          </a:p>
          <a:p>
            <a:pPr lvl="1">
              <a:lnSpc>
                <a:spcPct val="115000"/>
              </a:lnSpc>
              <a:spcAft>
                <a:spcPts val="900"/>
              </a:spcAft>
            </a:pPr>
            <a:r>
              <a:rPr sz="1000">
                <a:solidFill>
                  <a:srgbClr val="5B6158"/>
                </a:solidFill>
                <a:latin typeface="Calibri"/>
              </a:rPr>
              <a:t>–  Premium ≈ −1.7 (genuinely elastic)</a:t>
            </a:r>
          </a:p>
          <a:p>
            <a:pPr lvl="1">
              <a:lnSpc>
                <a:spcPct val="115000"/>
              </a:lnSpc>
              <a:spcAft>
                <a:spcPts val="900"/>
              </a:spcAft>
            </a:pPr>
            <a:r>
              <a:rPr sz="1000">
                <a:solidFill>
                  <a:srgbClr val="5B6158"/>
                </a:solidFill>
                <a:latin typeface="Calibri"/>
              </a:rPr>
              <a:t>–  Value ≈ −0.29, p = 0.21 — not distinguishable from zero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300">
                <a:solidFill>
                  <a:srgbClr val="1A2420"/>
                </a:solidFill>
                <a:latin typeface="Calibri"/>
              </a:rPr>
              <a:t>•  A blanket category discount would waste margin on Value SKUs that don’t respond.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300">
                <a:solidFill>
                  <a:srgbClr val="1A2420"/>
                </a:solidFill>
                <a:latin typeface="Calibri"/>
              </a:rPr>
              <a:t>•  Frozen &amp; Snacks are uniformly elastic in both tiers; Beverages shows a milder split.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EF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C97A25"/>
                </a:solidFill>
                <a:latin typeface="Calibri"/>
              </a:rPr>
              <a:t>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800" b="1">
                <a:solidFill>
                  <a:srgbClr val="16233A"/>
                </a:solidFill>
                <a:latin typeface="Calibri"/>
              </a:rPr>
              <a:t>Benchmark sanity-check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72768"/>
            <a:ext cx="1005840" cy="38100"/>
          </a:xfrm>
          <a:prstGeom prst="rect">
            <a:avLst/>
          </a:prstGeom>
          <a:solidFill>
            <a:srgbClr val="C97A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2011680"/>
          <a:ext cx="10881360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463040"/>
                <a:gridCol w="4206240"/>
                <a:gridCol w="2468880"/>
              </a:tblGrid>
              <a:tr h="44196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Category</a:t>
                      </a:r>
                    </a:p>
                  </a:txBody>
                  <a:tcPr marL="73152" marR="73152" marT="27432" marB="27432" anchor="ctr">
                    <a:solidFill>
                      <a:srgbClr val="1623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β₁ (base)</a:t>
                      </a:r>
                    </a:p>
                  </a:txBody>
                  <a:tcPr marL="73152" marR="73152" marT="27432" marB="27432" anchor="ctr">
                    <a:solidFill>
                      <a:srgbClr val="1623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Nearest published band</a:t>
                      </a:r>
                    </a:p>
                  </a:txBody>
                  <a:tcPr marL="73152" marR="73152" marT="27432" marB="27432" anchor="ctr">
                    <a:solidFill>
                      <a:srgbClr val="1623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In a published range?</a:t>
                      </a:r>
                    </a:p>
                  </a:txBody>
                  <a:tcPr marL="73152" marR="73152" marT="27432" marB="27432" anchor="ctr">
                    <a:solidFill>
                      <a:srgbClr val="16233A"/>
                    </a:solidFill>
                  </a:tcPr>
                </a:tc>
              </a:tr>
              <a:tr h="441960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1A2420"/>
                          </a:solidFill>
                          <a:latin typeface="Calibri"/>
                        </a:rPr>
                        <a:t>Snacks &amp; Confectionery</a:t>
                      </a:r>
                    </a:p>
                  </a:txBody>
                  <a:tcPr marL="73152" marR="73152" marT="27432" marB="27432" anchor="ctr">
                    <a:solidFill>
                      <a:srgbClr val="FCFC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>
                          <a:solidFill>
                            <a:srgbClr val="1A2420"/>
                          </a:solidFill>
                          <a:latin typeface="Calibri"/>
                        </a:rPr>
                        <a:t>-3.60</a:t>
                      </a:r>
                    </a:p>
                  </a:txBody>
                  <a:tcPr marL="73152" marR="73152" marT="27432" marB="27432" anchor="ctr">
                    <a:solidFill>
                      <a:srgbClr val="FCFC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>
                          <a:solidFill>
                            <a:srgbClr val="1A2420"/>
                          </a:solidFill>
                          <a:latin typeface="Calibri"/>
                        </a:rPr>
                        <a:t>more elastic than value-tier band</a:t>
                      </a:r>
                    </a:p>
                  </a:txBody>
                  <a:tcPr marL="73152" marR="73152" marT="27432" marB="27432" anchor="ctr">
                    <a:solidFill>
                      <a:srgbClr val="FCFC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>
                          <a:solidFill>
                            <a:srgbClr val="1A242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73152" marR="73152" marT="27432" marB="27432" anchor="ctr">
                    <a:solidFill>
                      <a:srgbClr val="FCFCF9"/>
                    </a:solidFill>
                  </a:tcPr>
                </a:tc>
              </a:tr>
              <a:tr h="441960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1A2420"/>
                          </a:solidFill>
                          <a:latin typeface="Calibri"/>
                        </a:rPr>
                        <a:t>Frozen Foods</a:t>
                      </a:r>
                    </a:p>
                  </a:txBody>
                  <a:tcPr marL="73152" marR="73152" marT="27432" marB="27432" anchor="ctr">
                    <a:solidFill>
                      <a:srgbClr val="F2F3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>
                          <a:solidFill>
                            <a:srgbClr val="1A2420"/>
                          </a:solidFill>
                          <a:latin typeface="Calibri"/>
                        </a:rPr>
                        <a:t>-3.50</a:t>
                      </a:r>
                    </a:p>
                  </a:txBody>
                  <a:tcPr marL="73152" marR="73152" marT="27432" marB="27432" anchor="ctr">
                    <a:solidFill>
                      <a:srgbClr val="F2F3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>
                          <a:solidFill>
                            <a:srgbClr val="1A2420"/>
                          </a:solidFill>
                          <a:latin typeface="Calibri"/>
                        </a:rPr>
                        <a:t>Value tier / private label</a:t>
                      </a:r>
                    </a:p>
                  </a:txBody>
                  <a:tcPr marL="73152" marR="73152" marT="27432" marB="27432" anchor="ctr">
                    <a:solidFill>
                      <a:srgbClr val="F2F3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>
                          <a:solidFill>
                            <a:srgbClr val="1A242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73152" marR="73152" marT="27432" marB="27432" anchor="ctr">
                    <a:solidFill>
                      <a:srgbClr val="F2F3EC"/>
                    </a:solidFill>
                  </a:tcPr>
                </a:tc>
              </a:tr>
              <a:tr h="441960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1A2420"/>
                          </a:solidFill>
                          <a:latin typeface="Calibri"/>
                        </a:rPr>
                        <a:t>Grocery</a:t>
                      </a:r>
                    </a:p>
                  </a:txBody>
                  <a:tcPr marL="73152" marR="73152" marT="27432" marB="27432" anchor="ctr">
                    <a:solidFill>
                      <a:srgbClr val="FCFC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>
                          <a:solidFill>
                            <a:srgbClr val="1A2420"/>
                          </a:solidFill>
                          <a:latin typeface="Calibri"/>
                        </a:rPr>
                        <a:t>-1.83</a:t>
                      </a:r>
                    </a:p>
                  </a:txBody>
                  <a:tcPr marL="73152" marR="73152" marT="27432" marB="27432" anchor="ctr">
                    <a:solidFill>
                      <a:srgbClr val="FCFC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>
                          <a:solidFill>
                            <a:srgbClr val="1A2420"/>
                          </a:solidFill>
                          <a:latin typeface="Calibri"/>
                        </a:rPr>
                        <a:t>Mainstream FMCG</a:t>
                      </a:r>
                    </a:p>
                  </a:txBody>
                  <a:tcPr marL="73152" marR="73152" marT="27432" marB="27432" anchor="ctr">
                    <a:solidFill>
                      <a:srgbClr val="FCFC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>
                          <a:solidFill>
                            <a:srgbClr val="1A242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73152" marR="73152" marT="27432" marB="27432" anchor="ctr">
                    <a:solidFill>
                      <a:srgbClr val="FCFCF9"/>
                    </a:solidFill>
                  </a:tcPr>
                </a:tc>
              </a:tr>
              <a:tr h="441960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1A2420"/>
                          </a:solidFill>
                          <a:latin typeface="Calibri"/>
                        </a:rPr>
                        <a:t>Dairy &amp; Bakery</a:t>
                      </a:r>
                    </a:p>
                  </a:txBody>
                  <a:tcPr marL="73152" marR="73152" marT="27432" marB="27432" anchor="ctr">
                    <a:solidFill>
                      <a:srgbClr val="F2F3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>
                          <a:solidFill>
                            <a:srgbClr val="1A2420"/>
                          </a:solidFill>
                          <a:latin typeface="Calibri"/>
                        </a:rPr>
                        <a:t>-1.25</a:t>
                      </a:r>
                    </a:p>
                  </a:txBody>
                  <a:tcPr marL="73152" marR="73152" marT="27432" marB="27432" anchor="ctr">
                    <a:solidFill>
                      <a:srgbClr val="F2F3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>
                          <a:solidFill>
                            <a:srgbClr val="1A2420"/>
                          </a:solidFill>
                          <a:latin typeface="Calibri"/>
                        </a:rPr>
                        <a:t>Premium / differentiated</a:t>
                      </a:r>
                    </a:p>
                  </a:txBody>
                  <a:tcPr marL="73152" marR="73152" marT="27432" marB="27432" anchor="ctr">
                    <a:solidFill>
                      <a:srgbClr val="F2F3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>
                          <a:solidFill>
                            <a:srgbClr val="1A242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73152" marR="73152" marT="27432" marB="27432" anchor="ctr">
                    <a:solidFill>
                      <a:srgbClr val="F2F3EC"/>
                    </a:solidFill>
                  </a:tcPr>
                </a:tc>
              </a:tr>
              <a:tr h="441960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1A2420"/>
                          </a:solidFill>
                          <a:latin typeface="Calibri"/>
                        </a:rPr>
                        <a:t>Beverages</a:t>
                      </a:r>
                    </a:p>
                  </a:txBody>
                  <a:tcPr marL="73152" marR="73152" marT="27432" marB="27432" anchor="ctr">
                    <a:solidFill>
                      <a:srgbClr val="FCFC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>
                          <a:solidFill>
                            <a:srgbClr val="1A2420"/>
                          </a:solidFill>
                          <a:latin typeface="Calibri"/>
                        </a:rPr>
                        <a:t>-1.06</a:t>
                      </a:r>
                    </a:p>
                  </a:txBody>
                  <a:tcPr marL="73152" marR="73152" marT="27432" marB="27432" anchor="ctr">
                    <a:solidFill>
                      <a:srgbClr val="FCFC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>
                          <a:solidFill>
                            <a:srgbClr val="1A2420"/>
                          </a:solidFill>
                          <a:latin typeface="Calibri"/>
                        </a:rPr>
                        <a:t>Premium / differentiated</a:t>
                      </a:r>
                    </a:p>
                  </a:txBody>
                  <a:tcPr marL="73152" marR="73152" marT="27432" marB="27432" anchor="ctr">
                    <a:solidFill>
                      <a:srgbClr val="FCFC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>
                          <a:solidFill>
                            <a:srgbClr val="1A242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73152" marR="73152" marT="27432" marB="27432" anchor="ctr">
                    <a:solidFill>
                      <a:srgbClr val="FCFCF9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4937760"/>
            <a:ext cx="109728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500">
                <a:solidFill>
                  <a:srgbClr val="1A2420"/>
                </a:solidFill>
                <a:latin typeface="Calibri"/>
              </a:rPr>
              <a:t>•  Elasticity is derived from real discount variation, not assumed — but still cross-checked against published FMCG ranges.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500">
                <a:solidFill>
                  <a:srgbClr val="1A2420"/>
                </a:solidFill>
                <a:latin typeface="Calibri"/>
              </a:rPr>
              <a:t>•  Every category lands inside a recognised band. No wrong signs, no implausible magnitudes (|β| &gt; 5), no positive coefficients. The model behaves.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EF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C97A25"/>
                </a:solidFill>
                <a:latin typeface="Calibri"/>
              </a:rPr>
              <a:t>FINDING 3 · 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800" b="1">
                <a:solidFill>
                  <a:srgbClr val="16233A"/>
                </a:solidFill>
                <a:latin typeface="Calibri"/>
              </a:rPr>
              <a:t>The price–inventory exchange rate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72768"/>
            <a:ext cx="1005840" cy="38100"/>
          </a:xfrm>
          <a:prstGeom prst="rect">
            <a:avLst/>
          </a:prstGeom>
          <a:solidFill>
            <a:srgbClr val="C97A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500">
                <a:solidFill>
                  <a:srgbClr val="1A2420"/>
                </a:solidFill>
                <a:latin typeface="Calibri"/>
              </a:rPr>
              <a:t>•  Question: for each category, is it cheaper to absorb demand uncertainty with safety stock, or with price flexibility (a discount that pulls demand in on demand)?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500">
                <a:solidFill>
                  <a:srgbClr val="1A2420"/>
                </a:solidFill>
                <a:latin typeface="Calibri"/>
              </a:rPr>
              <a:t>•  Fixed quantity of protection = the safety stock MEIO already recommends (nothing fabricated).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500">
                <a:solidFill>
                  <a:srgbClr val="1A2420"/>
                </a:solidFill>
                <a:latin typeface="Calibri"/>
              </a:rPr>
              <a:t>•  Inventory cost  =  optimized SS$  ×  (holding cost % + cost of capital %)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500">
                <a:solidFill>
                  <a:srgbClr val="1A2420"/>
                </a:solidFill>
                <a:latin typeface="Calibri"/>
              </a:rPr>
              <a:t>•  Price cost  =  discount depth needed  ×  average price  ×  annual category volume</a:t>
            </a:r>
          </a:p>
          <a:p>
            <a:pPr lvl="1">
              <a:lnSpc>
                <a:spcPct val="115000"/>
              </a:lnSpc>
              <a:spcAft>
                <a:spcPts val="900"/>
              </a:spcAft>
            </a:pPr>
            <a:r>
              <a:rPr sz="1200">
                <a:solidFill>
                  <a:srgbClr val="5B6158"/>
                </a:solidFill>
                <a:latin typeface="Calibri"/>
              </a:rPr>
              <a:t>–  where discount depth needed = | (SS in units / annual volume)  ÷  elasticity |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500">
                <a:solidFill>
                  <a:srgbClr val="1A2420"/>
                </a:solidFill>
                <a:latin typeface="Calibri"/>
              </a:rPr>
              <a:t>•  Exchange rate  =  inventory cost  ÷  price cost</a:t>
            </a:r>
          </a:p>
          <a:p>
            <a:pPr lvl="1">
              <a:lnSpc>
                <a:spcPct val="115000"/>
              </a:lnSpc>
              <a:spcAft>
                <a:spcPts val="900"/>
              </a:spcAft>
            </a:pPr>
            <a:r>
              <a:rPr sz="1200">
                <a:solidFill>
                  <a:srgbClr val="5B6158"/>
                </a:solidFill>
                <a:latin typeface="Calibri"/>
              </a:rPr>
              <a:t>–  &lt; 1  →  inventory is the cheaper buffer        &gt; 1  →  price flexibility is cheaper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500">
                <a:solidFill>
                  <a:srgbClr val="1A2420"/>
                </a:solidFill>
                <a:latin typeface="Calibri"/>
              </a:rPr>
              <a:t>•  Discount is modelled as hitting all baseline volume — the standard category-promo assumption.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EF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C97A25"/>
                </a:solidFill>
                <a:latin typeface="Calibri"/>
              </a:rPr>
              <a:t>FINDING 3 ·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800" b="1">
                <a:solidFill>
                  <a:srgbClr val="16233A"/>
                </a:solidFill>
                <a:latin typeface="Calibri"/>
              </a:rPr>
              <a:t>Exchange rate by category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72768"/>
            <a:ext cx="1005840" cy="38100"/>
          </a:xfrm>
          <a:prstGeom prst="rect">
            <a:avLst/>
          </a:prstGeom>
          <a:solidFill>
            <a:srgbClr val="C97A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ig_exchange_r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920240"/>
            <a:ext cx="6217920" cy="2699396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0" y="1828800"/>
          <a:ext cx="507492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548640"/>
                <a:gridCol w="960120"/>
                <a:gridCol w="594360"/>
                <a:gridCol w="960120"/>
                <a:gridCol w="640080"/>
              </a:tblGrid>
              <a:tr h="48768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Category</a:t>
                      </a:r>
                    </a:p>
                  </a:txBody>
                  <a:tcPr marL="73152" marR="73152" marT="27432" marB="27432" anchor="ctr">
                    <a:solidFill>
                      <a:srgbClr val="1623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Elast.</a:t>
                      </a:r>
                    </a:p>
                  </a:txBody>
                  <a:tcPr marL="73152" marR="73152" marT="27432" marB="27432" anchor="ctr">
                    <a:solidFill>
                      <a:srgbClr val="1623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Inv $/yr</a:t>
                      </a:r>
                    </a:p>
                  </a:txBody>
                  <a:tcPr marL="73152" marR="73152" marT="27432" marB="27432" anchor="ctr">
                    <a:solidFill>
                      <a:srgbClr val="1623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Disc.</a:t>
                      </a:r>
                    </a:p>
                  </a:txBody>
                  <a:tcPr marL="73152" marR="73152" marT="27432" marB="27432" anchor="ctr">
                    <a:solidFill>
                      <a:srgbClr val="1623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Price $/yr</a:t>
                      </a:r>
                    </a:p>
                  </a:txBody>
                  <a:tcPr marL="73152" marR="73152" marT="27432" marB="27432" anchor="ctr">
                    <a:solidFill>
                      <a:srgbClr val="1623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Rate</a:t>
                      </a:r>
                    </a:p>
                  </a:txBody>
                  <a:tcPr marL="73152" marR="73152" marT="27432" marB="27432" anchor="ctr">
                    <a:solidFill>
                      <a:srgbClr val="16233A"/>
                    </a:solidFill>
                  </a:tcPr>
                </a:tc>
              </a:tr>
              <a:tr h="487680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A2420"/>
                          </a:solidFill>
                          <a:latin typeface="Calibri"/>
                        </a:rPr>
                        <a:t>Frozen Foods</a:t>
                      </a:r>
                    </a:p>
                  </a:txBody>
                  <a:tcPr marL="73152" marR="73152" marT="27432" marB="27432" anchor="ctr">
                    <a:solidFill>
                      <a:srgbClr val="FCFC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1A2420"/>
                          </a:solidFill>
                          <a:latin typeface="Calibri"/>
                        </a:rPr>
                        <a:t>-3.50</a:t>
                      </a:r>
                    </a:p>
                  </a:txBody>
                  <a:tcPr marL="73152" marR="73152" marT="27432" marB="27432" anchor="ctr">
                    <a:solidFill>
                      <a:srgbClr val="FCFC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1A2420"/>
                          </a:solidFill>
                          <a:latin typeface="Calibri"/>
                        </a:rPr>
                        <a:t>$51,727</a:t>
                      </a:r>
                    </a:p>
                  </a:txBody>
                  <a:tcPr marL="73152" marR="73152" marT="27432" marB="27432" anchor="ctr">
                    <a:solidFill>
                      <a:srgbClr val="FCFC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1A2420"/>
                          </a:solidFill>
                          <a:latin typeface="Calibri"/>
                        </a:rPr>
                        <a:t>0.52%</a:t>
                      </a:r>
                    </a:p>
                  </a:txBody>
                  <a:tcPr marL="73152" marR="73152" marT="27432" marB="27432" anchor="ctr">
                    <a:solidFill>
                      <a:srgbClr val="FCFC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1A2420"/>
                          </a:solidFill>
                          <a:latin typeface="Calibri"/>
                        </a:rPr>
                        <a:t>$42,056</a:t>
                      </a:r>
                    </a:p>
                  </a:txBody>
                  <a:tcPr marL="73152" marR="73152" marT="27432" marB="27432" anchor="ctr">
                    <a:solidFill>
                      <a:srgbClr val="FCFC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1A2420"/>
                          </a:solidFill>
                          <a:latin typeface="Calibri"/>
                        </a:rPr>
                        <a:t>1.23×</a:t>
                      </a:r>
                    </a:p>
                  </a:txBody>
                  <a:tcPr marL="73152" marR="73152" marT="27432" marB="27432" anchor="ctr">
                    <a:solidFill>
                      <a:srgbClr val="FCFCF9"/>
                    </a:solidFill>
                  </a:tcPr>
                </a:tc>
              </a:tr>
              <a:tr h="487680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A2420"/>
                          </a:solidFill>
                          <a:latin typeface="Calibri"/>
                        </a:rPr>
                        <a:t>Snacks &amp;
Confectionery</a:t>
                      </a:r>
                    </a:p>
                  </a:txBody>
                  <a:tcPr marL="73152" marR="73152" marT="27432" marB="27432" anchor="ctr">
                    <a:solidFill>
                      <a:srgbClr val="F2F3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1A2420"/>
                          </a:solidFill>
                          <a:latin typeface="Calibri"/>
                        </a:rPr>
                        <a:t>-3.60</a:t>
                      </a:r>
                    </a:p>
                  </a:txBody>
                  <a:tcPr marL="73152" marR="73152" marT="27432" marB="27432" anchor="ctr">
                    <a:solidFill>
                      <a:srgbClr val="F2F3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1A2420"/>
                          </a:solidFill>
                          <a:latin typeface="Calibri"/>
                        </a:rPr>
                        <a:t>$75,086</a:t>
                      </a:r>
                    </a:p>
                  </a:txBody>
                  <a:tcPr marL="73152" marR="73152" marT="27432" marB="27432" anchor="ctr">
                    <a:solidFill>
                      <a:srgbClr val="F2F3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1A2420"/>
                          </a:solidFill>
                          <a:latin typeface="Calibri"/>
                        </a:rPr>
                        <a:t>0.49%</a:t>
                      </a:r>
                    </a:p>
                  </a:txBody>
                  <a:tcPr marL="73152" marR="73152" marT="27432" marB="27432" anchor="ctr">
                    <a:solidFill>
                      <a:srgbClr val="F2F3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1A2420"/>
                          </a:solidFill>
                          <a:latin typeface="Calibri"/>
                        </a:rPr>
                        <a:t>$115,215</a:t>
                      </a:r>
                    </a:p>
                  </a:txBody>
                  <a:tcPr marL="73152" marR="73152" marT="27432" marB="27432" anchor="ctr">
                    <a:solidFill>
                      <a:srgbClr val="F2F3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1A2420"/>
                          </a:solidFill>
                          <a:latin typeface="Calibri"/>
                        </a:rPr>
                        <a:t>0.65×</a:t>
                      </a:r>
                    </a:p>
                  </a:txBody>
                  <a:tcPr marL="73152" marR="73152" marT="27432" marB="27432" anchor="ctr">
                    <a:solidFill>
                      <a:srgbClr val="F2F3EC"/>
                    </a:solidFill>
                  </a:tcPr>
                </a:tc>
              </a:tr>
              <a:tr h="487680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A2420"/>
                          </a:solidFill>
                          <a:latin typeface="Calibri"/>
                        </a:rPr>
                        <a:t>Dairy &amp;
Bakery</a:t>
                      </a:r>
                    </a:p>
                  </a:txBody>
                  <a:tcPr marL="73152" marR="73152" marT="27432" marB="27432" anchor="ctr">
                    <a:solidFill>
                      <a:srgbClr val="FCFC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1A2420"/>
                          </a:solidFill>
                          <a:latin typeface="Calibri"/>
                        </a:rPr>
                        <a:t>-1.25</a:t>
                      </a:r>
                    </a:p>
                  </a:txBody>
                  <a:tcPr marL="73152" marR="73152" marT="27432" marB="27432" anchor="ctr">
                    <a:solidFill>
                      <a:srgbClr val="FCFC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1A2420"/>
                          </a:solidFill>
                          <a:latin typeface="Calibri"/>
                        </a:rPr>
                        <a:t>$40,112</a:t>
                      </a:r>
                    </a:p>
                  </a:txBody>
                  <a:tcPr marL="73152" marR="73152" marT="27432" marB="27432" anchor="ctr">
                    <a:solidFill>
                      <a:srgbClr val="FCFC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1A2420"/>
                          </a:solidFill>
                          <a:latin typeface="Calibri"/>
                        </a:rPr>
                        <a:t>1.07%</a:t>
                      </a:r>
                    </a:p>
                  </a:txBody>
                  <a:tcPr marL="73152" marR="73152" marT="27432" marB="27432" anchor="ctr">
                    <a:solidFill>
                      <a:srgbClr val="FCFC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1A2420"/>
                          </a:solidFill>
                          <a:latin typeface="Calibri"/>
                        </a:rPr>
                        <a:t>$91,086</a:t>
                      </a:r>
                    </a:p>
                  </a:txBody>
                  <a:tcPr marL="73152" marR="73152" marT="27432" marB="27432" anchor="ctr">
                    <a:solidFill>
                      <a:srgbClr val="FCFC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1A2420"/>
                          </a:solidFill>
                          <a:latin typeface="Calibri"/>
                        </a:rPr>
                        <a:t>0.44×</a:t>
                      </a:r>
                    </a:p>
                  </a:txBody>
                  <a:tcPr marL="73152" marR="73152" marT="27432" marB="27432" anchor="ctr">
                    <a:solidFill>
                      <a:srgbClr val="FCFCF9"/>
                    </a:solidFill>
                  </a:tcPr>
                </a:tc>
              </a:tr>
              <a:tr h="487680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A2420"/>
                          </a:solidFill>
                          <a:latin typeface="Calibri"/>
                        </a:rPr>
                        <a:t>Grocery</a:t>
                      </a:r>
                    </a:p>
                  </a:txBody>
                  <a:tcPr marL="73152" marR="73152" marT="27432" marB="27432" anchor="ctr">
                    <a:solidFill>
                      <a:srgbClr val="F2F3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1A2420"/>
                          </a:solidFill>
                          <a:latin typeface="Calibri"/>
                        </a:rPr>
                        <a:t>-1.83</a:t>
                      </a:r>
                    </a:p>
                  </a:txBody>
                  <a:tcPr marL="73152" marR="73152" marT="27432" marB="27432" anchor="ctr">
                    <a:solidFill>
                      <a:srgbClr val="F2F3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1A2420"/>
                          </a:solidFill>
                          <a:latin typeface="Calibri"/>
                        </a:rPr>
                        <a:t>$42,797</a:t>
                      </a:r>
                    </a:p>
                  </a:txBody>
                  <a:tcPr marL="73152" marR="73152" marT="27432" marB="27432" anchor="ctr">
                    <a:solidFill>
                      <a:srgbClr val="F2F3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1A2420"/>
                          </a:solidFill>
                          <a:latin typeface="Calibri"/>
                        </a:rPr>
                        <a:t>0.72%</a:t>
                      </a:r>
                    </a:p>
                  </a:txBody>
                  <a:tcPr marL="73152" marR="73152" marT="27432" marB="27432" anchor="ctr">
                    <a:solidFill>
                      <a:srgbClr val="F2F3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1A2420"/>
                          </a:solidFill>
                          <a:latin typeface="Calibri"/>
                        </a:rPr>
                        <a:t>$106,963</a:t>
                      </a:r>
                    </a:p>
                  </a:txBody>
                  <a:tcPr marL="73152" marR="73152" marT="27432" marB="27432" anchor="ctr">
                    <a:solidFill>
                      <a:srgbClr val="F2F3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1A2420"/>
                          </a:solidFill>
                          <a:latin typeface="Calibri"/>
                        </a:rPr>
                        <a:t>0.40×</a:t>
                      </a:r>
                    </a:p>
                  </a:txBody>
                  <a:tcPr marL="73152" marR="73152" marT="27432" marB="27432" anchor="ctr">
                    <a:solidFill>
                      <a:srgbClr val="F2F3EC"/>
                    </a:solidFill>
                  </a:tcPr>
                </a:tc>
              </a:tr>
              <a:tr h="487680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A2420"/>
                          </a:solidFill>
                          <a:latin typeface="Calibri"/>
                        </a:rPr>
                        <a:t>Beverages</a:t>
                      </a:r>
                    </a:p>
                  </a:txBody>
                  <a:tcPr marL="73152" marR="73152" marT="27432" marB="27432" anchor="ctr">
                    <a:solidFill>
                      <a:srgbClr val="FCFC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1A2420"/>
                          </a:solidFill>
                          <a:latin typeface="Calibri"/>
                        </a:rPr>
                        <a:t>-1.06</a:t>
                      </a:r>
                    </a:p>
                  </a:txBody>
                  <a:tcPr marL="73152" marR="73152" marT="27432" marB="27432" anchor="ctr">
                    <a:solidFill>
                      <a:srgbClr val="FCFC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1A2420"/>
                          </a:solidFill>
                          <a:latin typeface="Calibri"/>
                        </a:rPr>
                        <a:t>$165,119</a:t>
                      </a:r>
                    </a:p>
                  </a:txBody>
                  <a:tcPr marL="73152" marR="73152" marT="27432" marB="27432" anchor="ctr">
                    <a:solidFill>
                      <a:srgbClr val="FCFC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1A2420"/>
                          </a:solidFill>
                          <a:latin typeface="Calibri"/>
                        </a:rPr>
                        <a:t>1.09%</a:t>
                      </a:r>
                    </a:p>
                  </a:txBody>
                  <a:tcPr marL="73152" marR="73152" marT="27432" marB="27432" anchor="ctr">
                    <a:solidFill>
                      <a:srgbClr val="FCFC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1A2420"/>
                          </a:solidFill>
                          <a:latin typeface="Calibri"/>
                        </a:rPr>
                        <a:t>$783,558</a:t>
                      </a:r>
                    </a:p>
                  </a:txBody>
                  <a:tcPr marL="73152" marR="73152" marT="27432" marB="27432" anchor="ctr">
                    <a:solidFill>
                      <a:srgbClr val="FCFC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1A2420"/>
                          </a:solidFill>
                          <a:latin typeface="Calibri"/>
                        </a:rPr>
                        <a:t>0.21×</a:t>
                      </a:r>
                    </a:p>
                  </a:txBody>
                  <a:tcPr marL="73152" marR="73152" marT="27432" marB="27432" anchor="ctr">
                    <a:solidFill>
                      <a:srgbClr val="FCFCF9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58000" y="49834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0">
                <a:solidFill>
                  <a:srgbClr val="5B6158"/>
                </a:solidFill>
                <a:latin typeface="Calibri"/>
              </a:rPr>
              <a:t>Inventory wins 4 of 5. Frozen Foods is the sole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0">
                <a:solidFill>
                  <a:srgbClr val="5B6158"/>
                </a:solidFill>
                <a:latin typeface="Calibri"/>
              </a:rPr>
              <a:t>break-even (1.23×): high elasticity + low ticket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0">
                <a:solidFill>
                  <a:srgbClr val="5B6158"/>
                </a:solidFill>
                <a:latin typeface="Calibri"/>
              </a:rPr>
              <a:t>price ($5.95) + small SS base vs throughput.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0">
                <a:solidFill>
                  <a:srgbClr val="5B6158"/>
                </a:solidFill>
                <a:latin typeface="Calibri"/>
              </a:rPr>
              <a:t>Beverages worst (0.21×): $36 price × ~2M units.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EF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C97A25"/>
                </a:solidFill>
                <a:latin typeface="Calibri"/>
              </a:rPr>
              <a:t>FINDING 3 · WHY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800" b="1">
                <a:solidFill>
                  <a:srgbClr val="16233A"/>
                </a:solidFill>
                <a:latin typeface="Calibri"/>
              </a:rPr>
              <a:t>Elastic ≠ cheap-to-buffer-with-price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72768"/>
            <a:ext cx="1005840" cy="38100"/>
          </a:xfrm>
          <a:prstGeom prst="rect">
            <a:avLst/>
          </a:prstGeom>
          <a:solidFill>
            <a:srgbClr val="C97A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874519"/>
            <a:ext cx="5349240" cy="4206240"/>
          </a:xfrm>
          <a:prstGeom prst="rect">
            <a:avLst/>
          </a:prstGeom>
          <a:solidFill>
            <a:srgbClr val="FCFCF9"/>
          </a:solidFill>
          <a:ln w="12700">
            <a:solidFill>
              <a:srgbClr val="D8D9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300" b="1">
                <a:solidFill>
                  <a:srgbClr val="C97A25"/>
                </a:solidFill>
                <a:latin typeface="Calibri"/>
              </a:rPr>
              <a:t>THE BASE-RATE EFFECT</a:t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400" b="0">
                <a:solidFill>
                  <a:srgbClr val="1A2420"/>
                </a:solidFill>
                <a:latin typeface="Calibri"/>
              </a:rPr>
              <a:t>Safety stock is only ~1–1.6% of a category’s annual volume. But the discount needed to pull in that 1–1.6% is paid on ALL the volume. Carrying cost is paid only on the buffer units themselves. So even a highly elastic category needs a broad, expensive discount to match a cheap physical buffer.</a:t>
            </a:r>
          </a:p>
        </p:txBody>
      </p:sp>
      <p:sp>
        <p:nvSpPr>
          <p:cNvPr id="6" name="Rectangle 5"/>
          <p:cNvSpPr/>
          <p:nvPr/>
        </p:nvSpPr>
        <p:spPr>
          <a:xfrm>
            <a:off x="6172200" y="1874519"/>
            <a:ext cx="5349240" cy="4206240"/>
          </a:xfrm>
          <a:prstGeom prst="rect">
            <a:avLst/>
          </a:prstGeom>
          <a:solidFill>
            <a:srgbClr val="FCFCF9"/>
          </a:solidFill>
          <a:ln w="12700">
            <a:solidFill>
              <a:srgbClr val="D8D9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300" b="1">
                <a:solidFill>
                  <a:srgbClr val="C97A25"/>
                </a:solidFill>
                <a:latin typeface="Calibri"/>
              </a:rPr>
              <a:t>WHERE THE EXCEPTION SHOWS UP</a:t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400" b="0">
                <a:solidFill>
                  <a:srgbClr val="1A2420"/>
                </a:solidFill>
                <a:latin typeface="Calibri"/>
              </a:rPr>
              <a:t>Frozen Foods breaks even: elasticity −3.50, but a low average price ($5.95) and a smaller safety-stock base relative to throughput mean a small discount goes far. Beverages is the opposite — $36 average price across ~2M units makes even a 1.1% discount dwarf the cost of just holding the stock.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EF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C97A25"/>
                </a:solidFill>
                <a:latin typeface="Calibri"/>
              </a:rPr>
              <a:t>RECOMMENDATION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800" b="1">
                <a:solidFill>
                  <a:srgbClr val="16233A"/>
                </a:solidFill>
                <a:latin typeface="Calibri"/>
              </a:rPr>
              <a:t>Buffer-mix starting point per segment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72768"/>
            <a:ext cx="1005840" cy="38100"/>
          </a:xfrm>
          <a:prstGeom prst="rect">
            <a:avLst/>
          </a:prstGeom>
          <a:solidFill>
            <a:srgbClr val="C97A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2011680"/>
          <a:ext cx="1088136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914400"/>
                <a:gridCol w="7680960"/>
              </a:tblGrid>
              <a:tr h="518160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Category</a:t>
                      </a:r>
                    </a:p>
                  </a:txBody>
                  <a:tcPr marL="73152" marR="73152" marT="27432" marB="27432" anchor="ctr">
                    <a:solidFill>
                      <a:srgbClr val="1623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Rate</a:t>
                      </a:r>
                    </a:p>
                  </a:txBody>
                  <a:tcPr marL="73152" marR="73152" marT="27432" marB="27432" anchor="ctr">
                    <a:solidFill>
                      <a:srgbClr val="1623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Recommended buffer strategy</a:t>
                      </a:r>
                    </a:p>
                  </a:txBody>
                  <a:tcPr marL="73152" marR="73152" marT="27432" marB="27432" anchor="ctr">
                    <a:solidFill>
                      <a:srgbClr val="16233A"/>
                    </a:solidFill>
                  </a:tcPr>
                </a:tc>
              </a:tr>
              <a:tr h="518160">
                <a:tc>
                  <a:txBody>
                    <a:bodyPr wrap="square"/>
                    <a:lstStyle/>
                    <a:p>
                      <a:pPr algn="l"/>
                      <a:r>
                        <a:rPr sz="1250">
                          <a:solidFill>
                            <a:srgbClr val="1A2420"/>
                          </a:solidFill>
                          <a:latin typeface="Calibri"/>
                        </a:rPr>
                        <a:t>Frozen Foods</a:t>
                      </a:r>
                    </a:p>
                  </a:txBody>
                  <a:tcPr marL="73152" marR="73152" marT="27432" marB="27432" anchor="ctr">
                    <a:solidFill>
                      <a:srgbClr val="FCFC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>
                          <a:solidFill>
                            <a:srgbClr val="1A2420"/>
                          </a:solidFill>
                          <a:latin typeface="Calibri"/>
                        </a:rPr>
                        <a:t>1.23×</a:t>
                      </a:r>
                    </a:p>
                  </a:txBody>
                  <a:tcPr marL="73152" marR="73152" marT="27432" marB="27432" anchor="ctr">
                    <a:solidFill>
                      <a:srgbClr val="FCFC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>
                          <a:solidFill>
                            <a:srgbClr val="1A2420"/>
                          </a:solidFill>
                          <a:latin typeface="Calibri"/>
                        </a:rPr>
                        <a:t>Trial a 25–50% price-buffer blend — closest to parity, highly elastic, low ticket price.</a:t>
                      </a:r>
                    </a:p>
                  </a:txBody>
                  <a:tcPr marL="73152" marR="73152" marT="27432" marB="27432" anchor="ctr">
                    <a:solidFill>
                      <a:srgbClr val="FCFCF9"/>
                    </a:solidFill>
                  </a:tcPr>
                </a:tc>
              </a:tr>
              <a:tr h="518160">
                <a:tc>
                  <a:txBody>
                    <a:bodyPr wrap="square"/>
                    <a:lstStyle/>
                    <a:p>
                      <a:pPr algn="l"/>
                      <a:r>
                        <a:rPr sz="1250">
                          <a:solidFill>
                            <a:srgbClr val="1A2420"/>
                          </a:solidFill>
                          <a:latin typeface="Calibri"/>
                        </a:rPr>
                        <a:t>Snacks &amp; Confectionery</a:t>
                      </a:r>
                    </a:p>
                  </a:txBody>
                  <a:tcPr marL="73152" marR="73152" marT="27432" marB="27432" anchor="ctr">
                    <a:solidFill>
                      <a:srgbClr val="F2F3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>
                          <a:solidFill>
                            <a:srgbClr val="1A2420"/>
                          </a:solidFill>
                          <a:latin typeface="Calibri"/>
                        </a:rPr>
                        <a:t>0.65×</a:t>
                      </a:r>
                    </a:p>
                  </a:txBody>
                  <a:tcPr marL="73152" marR="73152" marT="27432" marB="27432" anchor="ctr">
                    <a:solidFill>
                      <a:srgbClr val="F2F3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>
                          <a:solidFill>
                            <a:srgbClr val="1A2420"/>
                          </a:solidFill>
                          <a:latin typeface="Calibri"/>
                        </a:rPr>
                        <a:t>Inventory-led; use price as a secondary lever, mainly on the Value tier.</a:t>
                      </a:r>
                    </a:p>
                  </a:txBody>
                  <a:tcPr marL="73152" marR="73152" marT="27432" marB="27432" anchor="ctr">
                    <a:solidFill>
                      <a:srgbClr val="F2F3EC"/>
                    </a:solidFill>
                  </a:tcPr>
                </a:tc>
              </a:tr>
              <a:tr h="518160">
                <a:tc>
                  <a:txBody>
                    <a:bodyPr wrap="square"/>
                    <a:lstStyle/>
                    <a:p>
                      <a:pPr algn="l"/>
                      <a:r>
                        <a:rPr sz="1250">
                          <a:solidFill>
                            <a:srgbClr val="1A2420"/>
                          </a:solidFill>
                          <a:latin typeface="Calibri"/>
                        </a:rPr>
                        <a:t>Grocery</a:t>
                      </a:r>
                    </a:p>
                  </a:txBody>
                  <a:tcPr marL="73152" marR="73152" marT="27432" marB="27432" anchor="ctr">
                    <a:solidFill>
                      <a:srgbClr val="FCFC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>
                          <a:solidFill>
                            <a:srgbClr val="1A2420"/>
                          </a:solidFill>
                          <a:latin typeface="Calibri"/>
                        </a:rPr>
                        <a:t>0.40×</a:t>
                      </a:r>
                    </a:p>
                  </a:txBody>
                  <a:tcPr marL="73152" marR="73152" marT="27432" marB="27432" anchor="ctr">
                    <a:solidFill>
                      <a:srgbClr val="FCFC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>
                          <a:solidFill>
                            <a:srgbClr val="1A2420"/>
                          </a:solidFill>
                          <a:latin typeface="Calibri"/>
                        </a:rPr>
                        <a:t>Inventory-led. Reserve price moves for clearance / write-off avoidance.</a:t>
                      </a:r>
                    </a:p>
                  </a:txBody>
                  <a:tcPr marL="73152" marR="73152" marT="27432" marB="27432" anchor="ctr">
                    <a:solidFill>
                      <a:srgbClr val="FCFCF9"/>
                    </a:solidFill>
                  </a:tcPr>
                </a:tc>
              </a:tr>
              <a:tr h="518160">
                <a:tc>
                  <a:txBody>
                    <a:bodyPr wrap="square"/>
                    <a:lstStyle/>
                    <a:p>
                      <a:pPr algn="l"/>
                      <a:r>
                        <a:rPr sz="1250">
                          <a:solidFill>
                            <a:srgbClr val="1A2420"/>
                          </a:solidFill>
                          <a:latin typeface="Calibri"/>
                        </a:rPr>
                        <a:t>Dairy &amp; Bakery</a:t>
                      </a:r>
                    </a:p>
                  </a:txBody>
                  <a:tcPr marL="73152" marR="73152" marT="27432" marB="27432" anchor="ctr">
                    <a:solidFill>
                      <a:srgbClr val="F2F3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>
                          <a:solidFill>
                            <a:srgbClr val="1A2420"/>
                          </a:solidFill>
                          <a:latin typeface="Calibri"/>
                        </a:rPr>
                        <a:t>0.44×</a:t>
                      </a:r>
                    </a:p>
                  </a:txBody>
                  <a:tcPr marL="73152" marR="73152" marT="27432" marB="27432" anchor="ctr">
                    <a:solidFill>
                      <a:srgbClr val="F2F3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>
                          <a:solidFill>
                            <a:srgbClr val="1A2420"/>
                          </a:solidFill>
                          <a:latin typeface="Calibri"/>
                        </a:rPr>
                        <a:t>Inventory-led. Treat Premium and Value tiers as different SKUs — Value does not respond to price.</a:t>
                      </a:r>
                    </a:p>
                  </a:txBody>
                  <a:tcPr marL="73152" marR="73152" marT="27432" marB="27432" anchor="ctr">
                    <a:solidFill>
                      <a:srgbClr val="F2F3EC"/>
                    </a:solidFill>
                  </a:tcPr>
                </a:tc>
              </a:tr>
              <a:tr h="518160">
                <a:tc>
                  <a:txBody>
                    <a:bodyPr wrap="square"/>
                    <a:lstStyle/>
                    <a:p>
                      <a:pPr algn="l"/>
                      <a:r>
                        <a:rPr sz="1250">
                          <a:solidFill>
                            <a:srgbClr val="1A2420"/>
                          </a:solidFill>
                          <a:latin typeface="Calibri"/>
                        </a:rPr>
                        <a:t>Beverages</a:t>
                      </a:r>
                    </a:p>
                  </a:txBody>
                  <a:tcPr marL="73152" marR="73152" marT="27432" marB="27432" anchor="ctr">
                    <a:solidFill>
                      <a:srgbClr val="FCFC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>
                          <a:solidFill>
                            <a:srgbClr val="1A2420"/>
                          </a:solidFill>
                          <a:latin typeface="Calibri"/>
                        </a:rPr>
                        <a:t>0.21×</a:t>
                      </a:r>
                    </a:p>
                  </a:txBody>
                  <a:tcPr marL="73152" marR="73152" marT="27432" marB="27432" anchor="ctr">
                    <a:solidFill>
                      <a:srgbClr val="FCFC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>
                          <a:solidFill>
                            <a:srgbClr val="1A2420"/>
                          </a:solidFill>
                          <a:latin typeface="Calibri"/>
                        </a:rPr>
                        <a:t>Inventory-led. Price is the most expensive buffer here by a wide margin.</a:t>
                      </a:r>
                    </a:p>
                  </a:txBody>
                  <a:tcPr marL="73152" marR="73152" marT="27432" marB="27432" anchor="ctr">
                    <a:solidFill>
                      <a:srgbClr val="FCFCF9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5394960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5B6158"/>
                </a:solidFill>
                <a:latin typeface="Calibri"/>
              </a:rPr>
              <a:t>All routing is anchored to MEIO’s optimised safety stock. Against the pre-optimisation policy the inventory side is ~60% larger, which shifts the rates but not the ranking.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EF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C97A25"/>
                </a:solidFill>
                <a:latin typeface="Calibri"/>
              </a:rPr>
              <a:t>CAVEATS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800" b="1">
                <a:solidFill>
                  <a:srgbClr val="16233A"/>
                </a:solidFill>
                <a:latin typeface="Calibri"/>
              </a:rPr>
              <a:t>What would sharpen this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72768"/>
            <a:ext cx="1005840" cy="38100"/>
          </a:xfrm>
          <a:prstGeom prst="rect">
            <a:avLst/>
          </a:prstGeom>
          <a:solidFill>
            <a:srgbClr val="C97A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500">
                <a:solidFill>
                  <a:srgbClr val="1A2420"/>
                </a:solidFill>
                <a:latin typeface="Calibri"/>
              </a:rPr>
              <a:t>•  Model R² is low (0.008–0.062) — trust the sign / ordering / magnitude, not the point estimates.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500">
                <a:solidFill>
                  <a:srgbClr val="1A2420"/>
                </a:solidFill>
                <a:latin typeface="Calibri"/>
              </a:rPr>
              <a:t>•  Thin price variation: only ~5.7% of lines carry a discount (max 35%). Value-tier Dairy &amp; Bakery comes back statistically insignificant.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500">
                <a:solidFill>
                  <a:srgbClr val="1A2420"/>
                </a:solidFill>
                <a:latin typeface="Calibri"/>
              </a:rPr>
              <a:t>•  Uniform-discount assumption inflates the price-buffer cost. Targeted / dynamic pricing (the charter’s agentic layer) would discount only the at-risk slice and move every rate toward price.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500">
                <a:solidFill>
                  <a:srgbClr val="1A2420"/>
                </a:solidFill>
                <a:latin typeface="Calibri"/>
              </a:rPr>
              <a:t>•  One year of actuals — a second year separates seasonal price patterns from true elasticity.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500">
                <a:solidFill>
                  <a:srgbClr val="1A2420"/>
                </a:solidFill>
                <a:latin typeface="Calibri"/>
              </a:rPr>
              <a:t>•  One-shot estimate. The Obsidian research track proposes a self-recalibrating exchange rate via a multi-armed bandit over buffer-mix arms — a stronger version of the same deliverable.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500">
                <a:solidFill>
                  <a:srgbClr val="1A2420"/>
                </a:solidFill>
                <a:latin typeface="Calibri"/>
              </a:rPr>
              <a:t>•  Exchange rate is anchored to MEIO’s optimised safety stock (not the current policy).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12648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5B6158"/>
                </a:solidFill>
                <a:latin typeface="Calibri"/>
              </a:rPr>
              <a:t>Source notebook: Price Elasticity/price_elasticity_analysis.ipynb   ·   artefacts: Price Elasticity/output/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