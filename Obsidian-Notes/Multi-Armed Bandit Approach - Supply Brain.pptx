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FA6FF"/>
                </a:solidFill>
                <a:latin typeface="Calibri"/>
              </a:rPr>
              <a:t>SUPPLY BRAIN  ·  EXPLORATORY STRATEGY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Multi-Armed Bandits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for Self-Recalibrating Buffer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9D2E6"/>
                </a:solidFill>
                <a:latin typeface="Calibri"/>
              </a:rPr>
              <a:t>How Supply Brain turns a one-shot optimization into a closed loop that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C9D2E6"/>
                </a:solidFill>
                <a:latin typeface="Calibri"/>
              </a:rPr>
              <a:t>keeps re-learning which policy to use — and the deployment plan to build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617720"/>
            <a:ext cx="128016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AA5C0"/>
                </a:solidFill>
                <a:latin typeface="Calibri"/>
              </a:rPr>
              <a:t>ISB AMPBA 2026S  ·  Accenture Supply Chain &amp; Engineering — AI and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5C0"/>
                </a:solidFill>
                <a:latin typeface="Calibri"/>
              </a:rPr>
              <a:t>Team: Swasti Baghel · N Sunnel · Vishwajeet Undhal · Shivangini Aggarwal · Varshil Rambhia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B9770E"/>
                </a:solidFill>
                <a:latin typeface="Calibri"/>
              </a:rPr>
              <a:t>Status: exploratory — not yet approved by sponsor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Static Policy Is the Root Cause, Not Bad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4A5260"/>
                </a:solidFill>
                <a:latin typeface="Calibri"/>
              </a:rPr>
              <a:t>Across the CPG portfolio, Supply Brain's charter identifies the same structural pattern repeated everywhere: one safety-stock formula for thousands of SKUs, service-level targets set once and never revisited, lead-time variability averaged away, and no feedback loop connecting outcomes back to the parameters that caused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657600"/>
            <a:ext cx="5486400" cy="2286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59C6"/>
                </a:solidFill>
                <a:latin typeface="Calibri"/>
              </a:rPr>
              <a:t>THE CHARTER'S OWN DESIRED-STATE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A1D23"/>
                </a:solidFill>
                <a:latin typeface="Calibri"/>
              </a:rPr>
              <a:t>“The system evolves over time, automatically re-tuning targets and buffer positions as demand, supply, and market conditions shift — rather than remaining static after initial setup.”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257800" cy="438912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7830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8FA6FF"/>
                </a:solidFill>
                <a:latin typeface="Calibri"/>
              </a:rPr>
              <a:t>THE STRUCTURAL ARGUMENT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40280"/>
            <a:ext cx="475488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50">
                <a:solidFill>
                  <a:srgbClr val="8FA6FF"/>
                </a:solidFill>
                <a:latin typeface="Calibri"/>
              </a:rPr>
              <a:t>▪ A one-shot optimization</a:t>
            </a:r>
            <a:r>
              <a:rPr sz="1350">
                <a:solidFill>
                  <a:srgbClr val="D6DCEE"/>
                </a:solidFill>
                <a:latin typeface="Calibri"/>
              </a:rPr>
              <a:t>  (a regression, an LP solve) produces one fixed answer, computed once from historical data.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50">
                <a:solidFill>
                  <a:srgbClr val="8FA6FF"/>
                </a:solidFill>
                <a:latin typeface="Calibri"/>
              </a:rPr>
              <a:t>▪ A bandit</a:t>
            </a:r>
            <a:r>
              <a:rPr sz="1350">
                <a:solidFill>
                  <a:srgbClr val="D6DCEE"/>
                </a:solidFill>
                <a:latin typeface="Calibri"/>
              </a:rPr>
              <a:t>  produces an answer that keeps updating itself as new outcomes are observed — it is inherently a learning loop.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50">
                <a:solidFill>
                  <a:srgbClr val="8FA6FF"/>
                </a:solidFill>
                <a:latin typeface="Calibri"/>
              </a:rPr>
              <a:t>▪ The charter's phrase</a:t>
            </a:r>
            <a:r>
              <a:rPr sz="1350">
                <a:solidFill>
                  <a:srgbClr val="D6DCEE"/>
                </a:solidFill>
                <a:latin typeface="Calibri"/>
              </a:rPr>
              <a:t>  “continuously re-learns from outcomes” is, independent of intent, a description of bandit behavior.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50">
                <a:solidFill>
                  <a:srgbClr val="8FA6FF"/>
                </a:solidFill>
                <a:latin typeface="Calibri"/>
              </a:rPr>
              <a:t>▪ This is why</a:t>
            </a:r>
            <a:r>
              <a:rPr sz="1350">
                <a:solidFill>
                  <a:srgbClr val="D6DCEE"/>
                </a:solidFill>
                <a:latin typeface="Calibri"/>
              </a:rPr>
              <a:t>  the Multi-Armed Bandit track has been researched this thoroughly despite not yet being approved scope.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THE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What a Multi-Armed Bandit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4A5260"/>
                </a:solidFill>
                <a:latin typeface="Calibri"/>
              </a:rPr>
              <a:t>A class of algorithms for repeatedly choosing among options (“arms”) with unknown payoffs — balancing exploitation (play the current best option) against exploration (keep testing others, in case the best guess is wrong).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5760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59C6"/>
                </a:solidFill>
                <a:latin typeface="Calibri"/>
              </a:rPr>
              <a:t>THE THREE REQUIRED INGREDIENTS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54680"/>
            <a:ext cx="457200" cy="457200"/>
          </a:xfrm>
          <a:prstGeom prst="ellipse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1729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D23"/>
                </a:solidFill>
                <a:latin typeface="Calibri"/>
              </a:rPr>
              <a:t>Arms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4728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The discrete set of choices being selected between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931920"/>
            <a:ext cx="457200" cy="457200"/>
          </a:xfrm>
          <a:prstGeom prst="ellipse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95020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D23"/>
                </a:solidFill>
                <a:latin typeface="Calibri"/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2452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A scalar signal observed after playing an arm — how good that choice was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709160"/>
            <a:ext cx="457200" cy="457200"/>
          </a:xfrm>
          <a:prstGeom prst="ellipse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b="1" sz="160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72744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A1D23"/>
                </a:solidFill>
                <a:latin typeface="Calibri"/>
              </a:rPr>
              <a:t>Rounds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001768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Repeated opportunities to choose, updating beliefs between rounds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1508760"/>
            <a:ext cx="5120640" cy="4572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737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59C6"/>
                </a:solidFill>
                <a:latin typeface="Calibri"/>
              </a:rPr>
              <a:t>THE ANALOGY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14884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A1D23"/>
                </a:solidFill>
                <a:latin typeface="Calibri"/>
              </a:rPr>
              <a:t>A row of slot machines (“one-armed bandits”), each with a different, unknown payout rate. The player must decide which machine to pull each round to maximize cumulative winnings.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7490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02A2A"/>
                </a:solidFill>
                <a:latin typeface="Calibri"/>
              </a:rPr>
              <a:t>WHAT IT IS NOT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4160520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4A5260"/>
                </a:solidFill>
                <a:latin typeface="Calibri"/>
              </a:rPr>
              <a:t>▪ Not a demand forecasting model — that's a separate model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4A5260"/>
                </a:solidFill>
                <a:latin typeface="Calibri"/>
              </a:rPr>
              <a:t>▪ Not the safety-stock calculation itself — still a formula/optimization step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4A5260"/>
                </a:solidFill>
                <a:latin typeface="Calibri"/>
              </a:rPr>
              <a:t>▪ It is the layer above those calculations, deciding which strategy to use — and re-checking that choice as conditions change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OPTIONS CONSIDERED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Four Algorithms, One Recommended Default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201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60520"/>
                <a:gridCol w="429768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Fit for Supply Brain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Epsilon-Greedy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Plays current best arm; random arm with small probability ε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Simple baseline — explores blindly, no sense of confidence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UCB (Upper Confidence Bound)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Plays “mean + confidence bonus”; bonus shrinks as arm is tried more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Deterministic, easy to reason about theoretically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Thompson Sampling  ★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Maintains a belief distribution per arm; samples &amp; plays the highest draw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RECOMMENDED — expresses uncertainty as “confidence,” easiest to explain to planners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Contextual Bandit</a:t>
                      </a:r>
                    </a:p>
                  </a:txBody>
                  <a:tcPr marL="101600" marR="101600" marT="50800" marB="50800" anchor="ctr">
                    <a:solidFill>
                      <a:srgbClr val="FBF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Expected reward modeled as a function of side info (context)</a:t>
                      </a:r>
                    </a:p>
                  </a:txBody>
                  <a:tcPr marL="101600" marR="101600" marT="50800" marB="50800" anchor="ctr">
                    <a:solidFill>
                      <a:srgbClr val="FBF2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REQUIRED — 5,000 SKUs too sparse for independent per-SKU bandits</a:t>
                      </a:r>
                    </a:p>
                  </a:txBody>
                  <a:tcPr marL="101600" marR="101600" marT="50800" marB="50800" anchor="ctr">
                    <a:solidFill>
                      <a:srgbClr val="FBF2E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1B3C8C"/>
                </a:solidFill>
                <a:latin typeface="Calibri"/>
              </a:rPr>
              <a:t>Working recommendation: Thompson Sampling, with context on (segment × seasonal phase).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WORKED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Price Buffer vs. Inventory Buffer — Five 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4A5260"/>
                </a:solidFill>
                <a:latin typeface="Calibri"/>
              </a:rPr>
              <a:t>Segment: “Snacks — Value tier, elastic.”  Arm A = 100% inventory buffer · Arm B = 50/50 hybrid · Arm C = 100% price buffer.  Reward = $ saved that simulated week vs. a “hold lots of stock always” baseline, from the Digital Twin.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514600"/>
          <a:ext cx="11201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80160"/>
                <a:gridCol w="1280160"/>
                <a:gridCol w="1280160"/>
                <a:gridCol w="1371600"/>
                <a:gridCol w="1600200"/>
                <a:gridCol w="36576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Round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Guess A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Guess B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Guess C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Arm Played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Actual Result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Updated Belief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$6,200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$4,100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$7,800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101600" marR="101600" marT="50800" marB="50800" anchor="ctr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C: mean drops to ~$3,800, narrows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$5,900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$7,100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$2,600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$6,500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B: mean rises to ~$5,800, narrows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$4,700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$8,000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$2,100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$7,000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B: mean rises to ~$6,300, tighter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$6,600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$6,900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$1,900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$6,800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B: mean ~$6,450, tighter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$7,300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$3,400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$6,600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1A1D23"/>
                          </a:solidFill>
                          <a:latin typeface="Calibri"/>
                        </a:rPr>
                        <a:t>B: mean ~$6,500, tight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074920"/>
            <a:ext cx="11155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00">
                <a:solidFill>
                  <a:srgbClr val="2B59C6"/>
                </a:solidFill>
                <a:latin typeface="Calibri"/>
              </a:rPr>
              <a:t>▪ Arm C</a:t>
            </a:r>
            <a:r>
              <a:rPr sz="1300">
                <a:solidFill>
                  <a:srgbClr val="4A5260"/>
                </a:solidFill>
                <a:latin typeface="Calibri"/>
              </a:rPr>
              <a:t>  tried once, underperformed — belief narrows downward, but isn't permanently banned.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00">
                <a:solidFill>
                  <a:srgbClr val="2B59C6"/>
                </a:solidFill>
                <a:latin typeface="Calibri"/>
              </a:rPr>
              <a:t>▪ Arm B</a:t>
            </a:r>
            <a:r>
              <a:rPr sz="1300">
                <a:solidFill>
                  <a:srgbClr val="4A5260"/>
                </a:solidFill>
                <a:latin typeface="Calibri"/>
              </a:rPr>
              <a:t>  performs well when tested, keeps sharpening around a strong number — wins more rounds over time.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b="1" sz="1300">
                <a:solidFill>
                  <a:srgbClr val="2B59C6"/>
                </a:solidFill>
                <a:latin typeface="Calibri"/>
              </a:rPr>
              <a:t>▪ Arm A</a:t>
            </a:r>
            <a:r>
              <a:rPr sz="1300">
                <a:solidFill>
                  <a:srgbClr val="4A5260"/>
                </a:solidFill>
                <a:latin typeface="Calibri"/>
              </a:rPr>
              <a:t>  never picked here, but its belief stays wide — it can still occasionally get re-tested. Nothing is ruled out forever, which is the literal mechanism behind “self-recalibrating.”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THE HARD 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Handling Seasonality Without Breaking the Bandit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349240" cy="2194560"/>
          </a:xfrm>
          <a:prstGeom prst="rect">
            <a:avLst/>
          </a:prstGeom>
          <a:solidFill>
            <a:srgbClr val="FB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9770E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846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A1D23"/>
                </a:solidFill>
                <a:latin typeface="Calibri"/>
              </a:rPr>
              <a:t>A vanilla bandit assumes the best arm never changes. Beverages peak in summer (inventory buffer wins) but the same SKU in winter is price-sensitive (price buffer wins). A belief that's already narrowed tight from a summer run keeps recommending the summer answer into fall — it's too confident to re-check.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600200"/>
            <a:ext cx="5623560" cy="2194560"/>
          </a:xfrm>
          <a:prstGeom prst="rect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3C8C"/>
                </a:solidFill>
                <a:latin typeface="Calibri"/>
              </a:rPr>
              <a:t>THE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19456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 i="0">
                <a:solidFill>
                  <a:srgbClr val="1A1D23"/>
                </a:solidFill>
                <a:latin typeface="Calibri"/>
              </a:rPr>
              <a:t>Feed seasonal phase directly as context instead of making the bandit rediscover it via drift detection: keep a separate belief per (segment × seasonal phase) — peak / shoulder / trough — rather than one belief per segment.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B59C6"/>
                </a:solidFill>
                <a:latin typeface="Calibri"/>
              </a:rPr>
              <a:t>SCOPE OF THE FIX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4526280"/>
          <a:ext cx="11201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023360"/>
                <a:gridCol w="44348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Share of SKUs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Needs seasonal-phase context?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Seasonal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~30%  (largest demand amplitude)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Yes — this is the segment the fix targets</a:t>
                      </a:r>
                    </a:p>
                  </a:txBody>
                  <a:tcPr marL="101600" marR="101600" marT="50800" marB="50800" anchor="ctr">
                    <a:solidFill>
                      <a:srgbClr val="E9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Fast-Moving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~50%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No — single belief per segment sufficient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Intermediate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~20%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D23"/>
                          </a:solidFill>
                          <a:latin typeface="Calibri"/>
                        </a:rPr>
                        <a:t>No — seasonality barely moves the needle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WHERE IT PLUGS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One Engine, Reused Across Three Decision 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4A5260"/>
                </a:solidFill>
                <a:latin typeface="Calibri"/>
              </a:rPr>
              <a:t>Bandits don't replace the underlying MEIO / safety-stock / elasticity math — they sit above it, choosing which policy template to apply.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361188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48840"/>
            <a:ext cx="3611880" cy="59436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Layer 4 — Price / Inventory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260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59C6"/>
                </a:solidFill>
                <a:latin typeface="Calibri"/>
              </a:rPr>
              <a:t>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100% inventory / 75-25 / 50-50 / 25-75 / 100%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59C6"/>
                </a:solidFill>
                <a:latin typeface="Calibri"/>
              </a:rPr>
              <a:t>REWARD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70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Twin-simulated total cost of the mix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B59C6"/>
                </a:solidFill>
                <a:latin typeface="Calibri"/>
              </a:rPr>
              <a:t>DELIVERABLE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5955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Powers the “$1 price flexibility = $Y safety stock” exchange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148840"/>
            <a:ext cx="361188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148840"/>
            <a:ext cx="3611880" cy="594360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2286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Layer 3 — MEIO Echelon Positioning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9260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7A4C"/>
                </a:solidFill>
                <a:latin typeface="Calibri"/>
              </a:rPr>
              <a:t>ARMS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8211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Hold at Plant DC / pool at Regional DC / push to Customer DC / split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14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7A4C"/>
                </a:solidFill>
                <a:latin typeface="Calibri"/>
              </a:rPr>
              <a:t>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370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Twin-simulated inventory cost net of service outcome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303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E7A4C"/>
                </a:solidFill>
                <a:latin typeface="Calibri"/>
              </a:rPr>
              <a:t>DELIVERABLE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55955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Network-level buffer positioning vs. single-node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148840"/>
            <a:ext cx="3611880" cy="41148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2440" y="2148840"/>
            <a:ext cx="3611880" cy="594360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286000"/>
            <a:ext cx="3246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Layer 2 — Service-Level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92608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770E"/>
                </a:solidFill>
                <a:latin typeface="Calibri"/>
              </a:rPr>
              <a:t>ARMS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18211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90% / 95% / 97% / 99% per segment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1480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770E"/>
                </a:solidFill>
                <a:latin typeface="Calibri"/>
              </a:rPr>
              <a:t>REWARD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37083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Twin-simulated stockout cost vs. holding cost trade-off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530352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9770E"/>
                </a:solidFill>
                <a:latin typeface="Calibri"/>
              </a:rPr>
              <a:t>DELIVERABLE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559552"/>
            <a:ext cx="3246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D23"/>
                </a:solidFill>
                <a:latin typeface="Calibri"/>
              </a:rPr>
              <a:t>Differentiated service-level targets per segment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THE FRONT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The Agentic Layer — A Fixed Toolbox, One Gated Write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2014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257800"/>
                <a:gridCol w="3200400"/>
              </a:tblGrid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Writes anything real?</a:t>
                      </a:r>
                    </a:p>
                  </a:txBody>
                  <a:tcPr marL="101600" marR="101600" marT="50800" marB="50800" anchor="ctr">
                    <a:solidFill>
                      <a:srgbClr val="2B59C6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get_recommendation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“What's the current best strategy for this segment?”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No — read-only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explain_recommendation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Turns belief/confidence numbers into a reasoned explanation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No — read-only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run_whatif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Sandboxed twin simulation under a changed assumption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No — sandboxed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trigger_recalculation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Re-runs the bandit loop for a segment given new data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Updates belief state only</a:t>
                      </a:r>
                    </a:p>
                  </a:txBody>
                  <a:tcPr marL="101600" marR="101600" marT="50800" marB="50800" anchor="ctr">
                    <a:solidFill>
                      <a:srgbClr val="F4F5F7"/>
                    </a:solidFill>
                  </a:tcPr>
                </a:tc>
              </a:tr>
              <a:tr h="561702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flag_anomaly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Proactively flags underperforming or drifting arms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No — alert only</a:t>
                      </a:r>
                    </a:p>
                  </a:txBody>
                  <a:tcPr marL="101600" marR="101600" marT="50800" marB="50800" anchor="ctr">
                    <a:solidFill>
                      <a:srgbClr val="FFFFFF"/>
                    </a:solidFill>
                  </a:tcPr>
                </a:tc>
              </a:tr>
              <a:tr h="561708"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apply_recommendation</a:t>
                      </a:r>
                    </a:p>
                  </a:txBody>
                  <a:tcPr marL="101600" marR="101600" marT="50800" marB="50800" anchor="ctr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Writes to the real policy table used downstream</a:t>
                      </a:r>
                    </a:p>
                  </a:txBody>
                  <a:tcPr marL="101600" marR="101600" marT="50800" marB="50800" anchor="ctr"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>
                          <a:solidFill>
                            <a:srgbClr val="1A1D23"/>
                          </a:solidFill>
                          <a:latin typeface="Calibri"/>
                        </a:rPr>
                        <a:t>YES — gated behind confirmation</a:t>
                      </a:r>
                    </a:p>
                  </a:txBody>
                  <a:tcPr marL="101600" marR="101600" marT="50800" marB="50800" anchor="ctr">
                    <a:solidFill>
                      <a:srgbClr val="FBE9E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760720"/>
            <a:ext cx="11201400" cy="685800"/>
          </a:xfrm>
          <a:prstGeom prst="rect">
            <a:avLst/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FFFFFF"/>
                </a:solidFill>
                <a:latin typeface="Calibri"/>
              </a:rPr>
              <a:t>The load-bearing design decision: apply_recommendation is the only tool that changes anything real — gated behind explicit planner confirmation, implementing the charter's “human confirmation before anything is committed.”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DEPLOYMENT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Mapped to the Charter's Own Phase Dates — No New Calendar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0992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0253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8–21 Aug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40" y="1764792"/>
            <a:ext cx="8595360" cy="566928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810512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Data Prep &amp;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075688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— no bandit dependency yet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5973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5234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22 Aug–4 Sep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2514600"/>
            <a:ext cx="8595360" cy="566928"/>
          </a:xfrm>
          <a:prstGeom prst="rect">
            <a:avLst/>
          </a:prstGeom>
          <a:solidFill>
            <a:srgbClr val="C7CD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560320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Exploration &amp; 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825496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— waits on validated segments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09544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02152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5–25 Sep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63240" y="3264408"/>
            <a:ext cx="8595360" cy="566928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3310128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Model Dev &amp;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575304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Build generic bandit engine (arms, reward fn, Thompson sampler) vs. mocked twin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59352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251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26 Sep–9 Oct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0" y="4014216"/>
            <a:ext cx="8595360" cy="566928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059936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Simulation &amp; Digital Twin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325112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Wire engine to real twin; run full 52-week 2026 horizon per segment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70916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001768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10–16 Oct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764024"/>
            <a:ext cx="8595360" cy="566928"/>
          </a:xfrm>
          <a:prstGeom prst="rect">
            <a:avLst/>
          </a:prstGeom>
          <a:solidFill>
            <a:srgbClr val="1E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0" y="4809744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Agentic Interface &amp; 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074920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Expose bandit recommendations + confidence conversationally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58968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1D23"/>
                </a:solidFill>
                <a:latin typeface="Calibri"/>
              </a:rPr>
              <a:t>Phase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751576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0"/>
                </a:solidFill>
                <a:latin typeface="Calibri"/>
              </a:rPr>
              <a:t>17–30 Oct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63240" y="5513832"/>
            <a:ext cx="8595360" cy="5669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0" y="5559552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Assessment &amp; Refinement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824728"/>
            <a:ext cx="8321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ECEFFF"/>
                </a:solidFill>
                <a:latin typeface="Calibri"/>
              </a:rPr>
              <a:t>Compare bandit-converged policy vs. static baseline on charter KPIs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4A5260"/>
                </a:solidFill>
                <a:latin typeface="Calibri"/>
              </a:rPr>
              <a:t>Milestones: final presentation to sponsor by 19 Oct 2026 · final report 25 Oct 2026 · handover by 30 Oct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HONEST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Open Risks and Caveats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09728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D23"/>
                </a:solidFill>
                <a:latin typeface="Calibri"/>
              </a:rPr>
              <a:t>Non-stationarity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19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Demand, elasticity, and cost structures drift with seasonality — violates the “fixed unknown payout” bandit assumption. Addressed via seasonal-phase context (Slide 6), but must stay explicit in the build.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14600"/>
            <a:ext cx="109728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D23"/>
                </a:solidFill>
                <a:latin typeface="Calibri"/>
              </a:rPr>
              <a:t>Delayed / batched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163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Reward only resolves after a simulated ~weekly replenishment cycle, not per micro-decision — requires batch-update variants, not the naive per-pull formulation.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429000"/>
            <a:ext cx="109728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D23"/>
                </a:solidFill>
                <a:latin typeface="Calibri"/>
              </a:rPr>
              <a:t>Combinatorial action 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07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True MEIO positioning is continuous and multi-node. Discretized into a small set of templates to fit the bandit framework — a simplification to flag explicitly in the final report, not hide.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43400"/>
            <a:ext cx="109728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D23"/>
                </a:solidFill>
                <a:latin typeface="Calibri"/>
              </a:rPr>
              <a:t>Feedback-loop data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451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Actual-vs-forecast drift tracking is an unresolved gap in the current schema — a shared dependency with the core MEIO build, not bandit-specific scope.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57800"/>
            <a:ext cx="109728" cy="777240"/>
          </a:xfrm>
          <a:prstGeom prst="rect">
            <a:avLst/>
          </a:prstGeom>
          <a:solidFill>
            <a:srgbClr val="B0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578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1D23"/>
                </a:solidFill>
                <a:latin typeface="Calibri"/>
              </a:rPr>
              <a:t>Team scope guardrail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59552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5260"/>
                </a:solidFill>
                <a:latin typeface="Calibri"/>
              </a:rPr>
              <a:t>Must stay visibly additive to committed deliverables. If time runs short: prioritize the generic engine + price/inventory routing (Slide 7) over all three decision points.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8FA6FF"/>
                </a:solidFill>
                <a:latin typeface="Calibri"/>
              </a:rPr>
              <a:t>STRATEGIC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Why This Matters — Beyond the Mechanics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087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8FA6FF"/>
                </a:solidFill>
                <a:latin typeface="Calibri"/>
              </a:rPr>
              <a:t>“continuously re-learns from outcomes”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92024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6DCEE"/>
                </a:solidFill>
                <a:latin typeface="Calibri"/>
              </a:rPr>
              <a:t>Thompson Sampling's belief-update loop, running against real digital-twin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8FA6FF"/>
                </a:solidFill>
                <a:latin typeface="Calibri"/>
              </a:rPr>
              <a:t>“automatically re-tunes targets... rather than remaining static”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288036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6DCEE"/>
                </a:solidFill>
                <a:latin typeface="Calibri"/>
              </a:rPr>
              <a:t>All three decision points (Slide 7) — none require a human to manually re-run anything post-deployment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1">
                <a:solidFill>
                  <a:srgbClr val="8FA6FF"/>
                </a:solidFill>
                <a:latin typeface="Calibri"/>
              </a:rPr>
              <a:t>“human confirmation before anything is committed”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3840480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D6DCEE"/>
                </a:solidFill>
                <a:latin typeface="Calibri"/>
              </a:rPr>
              <a:t>The apply_recommendation gate — the only tool in the agentic toolbox that writes anything real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11201400" cy="1234440"/>
          </a:xfrm>
          <a:prstGeom prst="rect">
            <a:avLst/>
          </a:prstGeom>
          <a:solidFill>
            <a:srgbClr val="1F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28523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 bandit-converged “$1 of price flexibility = $Y of safety stock” exchange rate that keeps re-tuning itself per segment is a materially stronger version of Accenture's IP claim than a static regression coefficient computed once and left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B59C6"/>
                </a:solidFill>
                <a:latin typeface="Calibri"/>
              </a:rPr>
              <a:t>WHERE WE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12648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D23"/>
                </a:solidFill>
                <a:latin typeface="Calibri"/>
              </a:rPr>
              <a:t>Status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005840" cy="38100"/>
          </a:xfrm>
          <a:prstGeom prst="rect">
            <a:avLst/>
          </a:prstGeom>
          <a:solidFill>
            <a:srgbClr val="2B5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7A4C"/>
                </a:solidFill>
                <a:latin typeface="Calibri"/>
              </a:rPr>
              <a:t>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5394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Definition, algorithm comparison, and worked example fully documented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Mapped to all three of the charter's own decision points (Layers 2, 3, 4)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Deployment pipeline scheduled inside existing Phase 3–6 windows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Agentic toolbox and confirmation-gating design specified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544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B9770E"/>
                </a:solidFill>
                <a:latin typeface="Calibr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965960"/>
            <a:ext cx="53949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Sponsor decision: commit this as scope, or keep as enhancement layer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Resolve the feedback-loop / actual-vs-forecast data gap (shared with core MEIO build)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Build the generic bandit engine standalone against mocked twin output (Phase 3, due 25 Sep)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>
                <a:solidFill>
                  <a:srgbClr val="4A5260"/>
                </a:solidFill>
                <a:latin typeface="Calibri"/>
              </a:rPr>
              <a:t>▪ Wire to the real digital twin and run the 52-week 2026 horizon (Phase 4, due 9 Oct)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486400"/>
            <a:ext cx="11201400" cy="8229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4A5260"/>
                </a:solidFill>
                <a:latin typeface="Calibri"/>
              </a:rPr>
              <a:t>Status: exploratory — not yet reflected in the Capstone Project Charter or the data-schema document. If adopted, both should be updated to reference this track.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SUPPLY BRAIN — MULTI-ARMED BANDIT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526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